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9" r:id="rId3"/>
    <p:sldId id="263" r:id="rId4"/>
    <p:sldId id="264" r:id="rId5"/>
    <p:sldId id="270" r:id="rId6"/>
    <p:sldId id="260" r:id="rId7"/>
    <p:sldId id="266" r:id="rId8"/>
    <p:sldId id="267" r:id="rId9"/>
    <p:sldId id="271" r:id="rId10"/>
    <p:sldId id="268" r:id="rId11"/>
    <p:sldId id="272" r:id="rId12"/>
    <p:sldId id="269" r:id="rId13"/>
    <p:sldId id="273"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3636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descr="Logo, company name  AI-generated content may be incorrect.">
            <a:extLst>
              <a:ext uri="{FF2B5EF4-FFF2-40B4-BE49-F238E27FC236}">
                <a16:creationId xmlns:a16="http://schemas.microsoft.com/office/drawing/2014/main" id="{2AFB2537-D33A-D7BF-FDFE-B49A7607B757}"/>
              </a:ext>
            </a:extLst>
          </p:cNvPr>
          <p:cNvPicPr>
            <a:picLocks noChangeAspect="1"/>
          </p:cNvPicPr>
          <p:nvPr userDrawn="1"/>
        </p:nvPicPr>
        <p:blipFill>
          <a:blip r:embed="rId3"/>
          <a:stretch>
            <a:fillRect/>
          </a:stretch>
        </p:blipFill>
        <p:spPr>
          <a:xfrm>
            <a:off x="10629900" y="0"/>
            <a:ext cx="1562100" cy="12954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194560"/>
            <a:ext cx="2743200" cy="274320"/>
          </a:xfrm>
          <a:prstGeom prst="rect">
            <a:avLst/>
          </a:prstGeom>
          <a:noFill/>
          <a:ln/>
        </p:spPr>
        <p:txBody>
          <a:bodyPr wrap="square" lIns="0" tIns="0" rIns="0" bIns="0" rtlCol="0" anchor="t"/>
          <a:lstStyle/>
          <a:p>
            <a:pPr marL="0" indent="0" algn="l">
              <a:buNone/>
            </a:pPr>
            <a:r>
              <a:rPr lang="en-US" sz="1000" kern="0" spc="400" dirty="0">
                <a:solidFill>
                  <a:srgbClr val="111111"/>
                </a:solidFill>
                <a:latin typeface="Arial" pitchFamily="34" charset="0"/>
                <a:ea typeface="Arial" pitchFamily="34" charset="-122"/>
                <a:cs typeface="Arial" pitchFamily="34" charset="-120"/>
              </a:rPr>
              <a:t>ASME TURBO EXPO 2026   ·   GT2026-175147</a:t>
            </a:r>
            <a:endParaRPr lang="en-US" sz="1000" dirty="0"/>
          </a:p>
        </p:txBody>
      </p:sp>
      <p:sp>
        <p:nvSpPr>
          <p:cNvPr id="3" name="Text 1"/>
          <p:cNvSpPr/>
          <p:nvPr/>
        </p:nvSpPr>
        <p:spPr>
          <a:xfrm>
            <a:off x="640080" y="2560320"/>
            <a:ext cx="10881360" cy="1828800"/>
          </a:xfrm>
          <a:prstGeom prst="rect">
            <a:avLst/>
          </a:prstGeom>
          <a:noFill/>
          <a:ln/>
        </p:spPr>
        <p:txBody>
          <a:bodyPr wrap="square" lIns="0" tIns="0" rIns="0" bIns="0" rtlCol="0" anchor="t"/>
          <a:lstStyle/>
          <a:p>
            <a:pPr marL="0" indent="0" algn="l">
              <a:buNone/>
            </a:pPr>
            <a:r>
              <a:rPr lang="en-US" sz="3500" b="1" dirty="0">
                <a:solidFill>
                  <a:srgbClr val="111111"/>
                </a:solidFill>
                <a:latin typeface="Arial" pitchFamily="34" charset="0"/>
                <a:ea typeface="Arial" pitchFamily="34" charset="-122"/>
                <a:cs typeface="Arial" pitchFamily="34" charset="-120"/>
              </a:rPr>
              <a:t>Turbo-Design: Open-Source Radial Equilibrium Turbomachinery Solver</a:t>
            </a:r>
            <a:endParaRPr lang="en-US" sz="3500" dirty="0"/>
          </a:p>
        </p:txBody>
      </p:sp>
      <p:sp>
        <p:nvSpPr>
          <p:cNvPr id="4" name="Text 2"/>
          <p:cNvSpPr/>
          <p:nvPr/>
        </p:nvSpPr>
        <p:spPr>
          <a:xfrm>
            <a:off x="640080" y="4206240"/>
            <a:ext cx="8686800" cy="548640"/>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ea typeface="Arial" pitchFamily="34" charset="-122"/>
                <a:cs typeface="Arial" pitchFamily="34" charset="-120"/>
              </a:rPr>
              <a:t>Part I — Turbines.  A Python framework for radial equilibrium analysis with extensible loss models.</a:t>
            </a:r>
            <a:endParaRPr lang="en-US" sz="1400" dirty="0"/>
          </a:p>
        </p:txBody>
      </p:sp>
      <p:sp>
        <p:nvSpPr>
          <p:cNvPr id="5" name="Shape 3"/>
          <p:cNvSpPr/>
          <p:nvPr/>
        </p:nvSpPr>
        <p:spPr>
          <a:xfrm>
            <a:off x="640080" y="5120640"/>
            <a:ext cx="914400" cy="0"/>
          </a:xfrm>
          <a:prstGeom prst="line">
            <a:avLst/>
          </a:prstGeom>
          <a:noFill/>
          <a:ln w="19050">
            <a:solidFill>
              <a:srgbClr val="2563EB"/>
            </a:solidFill>
            <a:prstDash val="solid"/>
          </a:ln>
        </p:spPr>
        <p:txBody>
          <a:bodyPr/>
          <a:lstStyle/>
          <a:p>
            <a:endParaRPr lang="en-US"/>
          </a:p>
        </p:txBody>
      </p:sp>
      <p:sp>
        <p:nvSpPr>
          <p:cNvPr id="6" name="Text 4"/>
          <p:cNvSpPr/>
          <p:nvPr/>
        </p:nvSpPr>
        <p:spPr>
          <a:xfrm>
            <a:off x="640080" y="5303520"/>
            <a:ext cx="10881360" cy="274320"/>
          </a:xfrm>
          <a:prstGeom prst="rect">
            <a:avLst/>
          </a:prstGeom>
          <a:noFill/>
          <a:ln/>
        </p:spPr>
        <p:txBody>
          <a:bodyPr wrap="square" lIns="0" tIns="0" rIns="0" bIns="0" rtlCol="0" anchor="t"/>
          <a:lstStyle/>
          <a:p>
            <a:pPr marL="0" indent="0" algn="l">
              <a:buNone/>
            </a:pPr>
            <a:r>
              <a:rPr lang="en-US" sz="1050" i="1" kern="0" dirty="0">
                <a:solidFill>
                  <a:srgbClr val="6B7280"/>
                </a:solidFill>
                <a:ea typeface="Arial" pitchFamily="34" charset="-122"/>
                <a:cs typeface="Arial" pitchFamily="34" charset="-120"/>
              </a:rPr>
              <a:t>Dr. Paht Juangphanich, Dr. Arman Mirhashemi (NASA Glenn) · William Andress (Purdue) · June 2026</a:t>
            </a:r>
            <a:endParaRPr lang="en-US" sz="1050" i="1" dirty="0"/>
          </a:p>
        </p:txBody>
      </p:sp>
      <p:pic>
        <p:nvPicPr>
          <p:cNvPr id="700" name="QR — GitHub repo"/>
          <p:cNvPicPr>
            <a:picLocks noChangeAspect="1"/>
          </p:cNvPicPr>
          <p:nvPr/>
        </p:nvPicPr>
        <p:blipFill>
          <a:blip r:embed="rId3"/>
          <a:stretch>
            <a:fillRect/>
          </a:stretch>
        </p:blipFill>
        <p:spPr>
          <a:xfrm>
            <a:off x="10546080" y="5152160"/>
            <a:ext cx="1005840" cy="1005840"/>
          </a:xfrm>
          <a:prstGeom prst="rect">
            <a:avLst/>
          </a:prstGeom>
        </p:spPr>
      </p:pic>
      <p:sp>
        <p:nvSpPr>
          <p:cNvPr id="701" name="QR Label"/>
          <p:cNvSpPr/>
          <p:nvPr/>
        </p:nvSpPr>
        <p:spPr>
          <a:xfrm>
            <a:off x="9946080" y="6208000"/>
            <a:ext cx="2205840" cy="250000"/>
          </a:xfrm>
          <a:prstGeom prst="rect">
            <a:avLst/>
          </a:prstGeom>
          <a:noFill/>
        </p:spPr>
        <p:txBody>
          <a:bodyPr wrap="square" lIns="0" tIns="0" rIns="0" bIns="0" anchor="t"/>
          <a:lstStyle/>
          <a:p>
            <a:pPr marL="0" indent="0" algn="ctr">
              <a:buNone/>
            </a:pPr>
            <a:r>
              <a:rPr lang="en-US" sz="900" kern="0" spc="100">
                <a:solidFill>
                  <a:srgbClr val="6B7280"/>
                </a:solidFill>
                <a:latin typeface="Arial"/>
              </a:rPr>
              <a:t>github.com/nasa/turbo-design</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01 · MOTIVATION</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Motivation</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5" name="Text 3"/>
          <p:cNvSpPr/>
          <p:nvPr/>
        </p:nvSpPr>
        <p:spPr>
          <a:xfrm>
            <a:off x="640080" y="1828799"/>
            <a:ext cx="10881360" cy="548619"/>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Legacy radial-equilibrium codes are poorly documented; commercial codes are closed-source; neither was built for machine-learning loss models.</a:t>
            </a:r>
            <a:endParaRPr lang="en-US" sz="1800" dirty="0"/>
          </a:p>
        </p:txBody>
      </p:sp>
      <p:sp>
        <p:nvSpPr>
          <p:cNvPr id="6" name="Text 4"/>
          <p:cNvSpPr/>
          <p:nvPr/>
        </p:nvSpPr>
        <p:spPr>
          <a:xfrm>
            <a:off x="640080" y="2468858"/>
            <a:ext cx="10881360" cy="1188720"/>
          </a:xfrm>
          <a:prstGeom prst="rect">
            <a:avLst/>
          </a:prstGeom>
          <a:noFill/>
          <a:ln/>
        </p:spPr>
        <p:txBody>
          <a:bodyPr wrap="square" lIns="0" tIns="0" rIns="0" bIns="0" rtlCol="0" anchor="t"/>
          <a:lstStyle/>
          <a:p>
            <a:pPr marL="0" indent="0" algn="l">
              <a:spcAft>
                <a:spcPts val="600"/>
              </a:spcAft>
              <a:buNone/>
            </a:pPr>
            <a:r>
              <a:rPr lang="en-US" sz="1400" dirty="0">
                <a:solidFill>
                  <a:srgbClr val="111111"/>
                </a:solidFill>
                <a:latin typeface="Arial" pitchFamily="34" charset="0"/>
                <a:ea typeface="Arial" pitchFamily="34" charset="-122"/>
                <a:cs typeface="Arial" pitchFamily="34" charset="-120"/>
              </a:rPr>
              <a:t>NASA’s legacy radial-equilibrium tools — TD2, AXOD, and RTD — were written in Fortran 77 in the 1970s–90s. Their assumptions are poorly documented and difficult to extend. Commercial alternatives like AxSTREAM and AXIAL are proprietary, which makes it hard for academia and government to add custom physics or plug in machine-learning inference. Modern designs reduce losses through 3D optimization and advanced cooling, but legacy cascade-based loss models can’t capture those gains.</a:t>
            </a:r>
            <a:endParaRPr lang="en-US" sz="1400" dirty="0"/>
          </a:p>
        </p:txBody>
      </p:sp>
      <p:sp>
        <p:nvSpPr>
          <p:cNvPr id="7" name="Text 5"/>
          <p:cNvSpPr/>
          <p:nvPr/>
        </p:nvSpPr>
        <p:spPr>
          <a:xfrm>
            <a:off x="640080" y="3840480"/>
            <a:ext cx="10881360" cy="182880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Open source, written in Python — easy to verify, modify, and extend</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Modular loss-model interface — drop in custom correlations or trained ML inference models</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Handles both axial and radial machines from a unified formulation</a:t>
            </a:r>
            <a:endParaRPr lang="en-US" sz="1400" dirty="0"/>
          </a:p>
        </p:txBody>
      </p:sp>
      <p:sp>
        <p:nvSpPr>
          <p:cNvPr id="8" name="Shape 6"/>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9" name="Text 7"/>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01 · Motivation</a:t>
            </a:r>
            <a:endParaRPr lang="en-US" sz="900" dirty="0"/>
          </a:p>
        </p:txBody>
      </p:sp>
      <p:sp>
        <p:nvSpPr>
          <p:cNvPr id="10" name="Text 8"/>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02 · OVERVIEW</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Outline</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15" name="Shape 13"/>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6" name="Text 14"/>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02 · Overview</a:t>
            </a:r>
            <a:endParaRPr lang="en-US" sz="900" dirty="0"/>
          </a:p>
        </p:txBody>
      </p:sp>
      <p:sp>
        <p:nvSpPr>
          <p:cNvPr id="17" name="Text 15"/>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03</a:t>
            </a:r>
            <a:endParaRPr lang="en-US" sz="900" dirty="0"/>
          </a:p>
        </p:txBody>
      </p:sp>
      <p:sp>
        <p:nvSpPr>
          <p:cNvPr id="100" name="Badge 03"/>
          <p:cNvSpPr/>
          <p:nvPr/>
        </p:nvSpPr>
        <p:spPr>
          <a:xfrm>
            <a:off x="640080" y="2203750"/>
            <a:ext cx="600000" cy="600000"/>
          </a:xfrm>
          <a:prstGeom prst="roundRect">
            <a:avLst>
              <a:gd name="adj" fmla="val 16000"/>
            </a:avLst>
          </a:prstGeom>
          <a:solidFill>
            <a:srgbClr val="1D4ED8"/>
          </a:solidFill>
          <a:ln>
            <a:noFill/>
          </a:ln>
        </p:spPr>
        <p:txBody>
          <a:bodyPr lIns="0" tIns="0" rIns="0" bIns="0" rtlCol="0" anchor="ctr"/>
          <a:lstStyle/>
          <a:p>
            <a:pPr algn="ctr">
              <a:buNone/>
            </a:pPr>
            <a:r>
              <a:rPr lang="en-US" sz="2400" b="1" dirty="0">
                <a:solidFill>
                  <a:srgbClr val="FFFFFF"/>
                </a:solidFill>
                <a:latin typeface="Arial" pitchFamily="34" charset="0"/>
              </a:rPr>
              <a:t>03</a:t>
            </a:r>
          </a:p>
        </p:txBody>
      </p:sp>
      <p:sp>
        <p:nvSpPr>
          <p:cNvPr id="101" name="Topic 03"/>
          <p:cNvSpPr/>
          <p:nvPr/>
        </p:nvSpPr>
        <p:spPr>
          <a:xfrm>
            <a:off x="1560080" y="2130000"/>
            <a:ext cx="9961360" cy="380000"/>
          </a:xfrm>
          <a:prstGeom prst="rect">
            <a:avLst/>
          </a:prstGeom>
          <a:noFill/>
          <a:ln/>
        </p:spPr>
        <p:txBody>
          <a:bodyPr wrap="square" lIns="0" tIns="0" rIns="0" bIns="0" rtlCol="0" anchor="t"/>
          <a:lstStyle/>
          <a:p>
            <a:pPr marL="0" indent="0" algn="l">
              <a:buNone/>
            </a:pPr>
            <a:r>
              <a:rPr lang="en-US" sz="2200" b="1" dirty="0">
                <a:solidFill>
                  <a:srgbClr val="111111"/>
                </a:solidFill>
                <a:latin typeface="Arial" pitchFamily="34" charset="0"/>
              </a:rPr>
              <a:t>Coordinate system and geometry</a:t>
            </a:r>
          </a:p>
        </p:txBody>
      </p:sp>
      <p:sp>
        <p:nvSpPr>
          <p:cNvPr id="102" name="Desc 03"/>
          <p:cNvSpPr/>
          <p:nvPr/>
        </p:nvSpPr>
        <p:spPr>
          <a:xfrm>
            <a:off x="1560080" y="2520000"/>
            <a:ext cx="9961360" cy="320000"/>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rPr>
              <a:t>Meridional-velocity frame; smooth hub/shroud curves for accurate curvature</a:t>
            </a:r>
          </a:p>
        </p:txBody>
      </p:sp>
      <p:cxnSp>
        <p:nvCxnSpPr>
          <p:cNvPr id="103" name="RowDiv 03"/>
          <p:cNvCxnSpPr/>
          <p:nvPr/>
        </p:nvCxnSpPr>
        <p:spPr>
          <a:xfrm>
            <a:off x="640080" y="3027500"/>
            <a:ext cx="10881360" cy="0"/>
          </a:xfrm>
          <a:prstGeom prst="line">
            <a:avLst/>
          </a:prstGeom>
          <a:ln w="6350">
            <a:solidFill>
              <a:srgbClr val="E5E7EB"/>
            </a:solidFill>
          </a:ln>
        </p:spPr>
        <p:style>
          <a:lnRef idx="1">
            <a:schemeClr val="accent1"/>
          </a:lnRef>
          <a:fillRef idx="0">
            <a:schemeClr val="accent1"/>
          </a:fillRef>
          <a:effectRef idx="0">
            <a:schemeClr val="accent1"/>
          </a:effectRef>
          <a:fontRef idx="minor">
            <a:schemeClr val="tx1"/>
          </a:fontRef>
        </p:style>
      </p:cxnSp>
      <p:sp>
        <p:nvSpPr>
          <p:cNvPr id="105" name="Badge 04"/>
          <p:cNvSpPr/>
          <p:nvPr/>
        </p:nvSpPr>
        <p:spPr>
          <a:xfrm>
            <a:off x="640080" y="3251250"/>
            <a:ext cx="600000" cy="600000"/>
          </a:xfrm>
          <a:prstGeom prst="roundRect">
            <a:avLst>
              <a:gd name="adj" fmla="val 16000"/>
            </a:avLst>
          </a:prstGeom>
          <a:solidFill>
            <a:srgbClr val="1D4ED8"/>
          </a:solidFill>
          <a:ln>
            <a:noFill/>
          </a:ln>
        </p:spPr>
        <p:txBody>
          <a:bodyPr lIns="0" tIns="0" rIns="0" bIns="0" rtlCol="0" anchor="ctr"/>
          <a:lstStyle/>
          <a:p>
            <a:pPr algn="ctr">
              <a:buNone/>
            </a:pPr>
            <a:r>
              <a:rPr lang="en-US" sz="2400" b="1" dirty="0">
                <a:solidFill>
                  <a:srgbClr val="FFFFFF"/>
                </a:solidFill>
                <a:latin typeface="Arial" pitchFamily="34" charset="0"/>
              </a:rPr>
              <a:t>04</a:t>
            </a:r>
          </a:p>
        </p:txBody>
      </p:sp>
      <p:sp>
        <p:nvSpPr>
          <p:cNvPr id="106" name="Topic 04"/>
          <p:cNvSpPr/>
          <p:nvPr/>
        </p:nvSpPr>
        <p:spPr>
          <a:xfrm>
            <a:off x="1560080" y="3177500"/>
            <a:ext cx="9961360" cy="380000"/>
          </a:xfrm>
          <a:prstGeom prst="rect">
            <a:avLst/>
          </a:prstGeom>
          <a:noFill/>
          <a:ln/>
        </p:spPr>
        <p:txBody>
          <a:bodyPr wrap="square" lIns="0" tIns="0" rIns="0" bIns="0" rtlCol="0" anchor="t"/>
          <a:lstStyle/>
          <a:p>
            <a:pPr marL="0" indent="0" algn="l">
              <a:buNone/>
            </a:pPr>
            <a:r>
              <a:rPr lang="en-US" sz="2200" b="1" dirty="0">
                <a:solidFill>
                  <a:srgbClr val="111111"/>
                </a:solidFill>
                <a:latin typeface="Arial" pitchFamily="34" charset="0"/>
              </a:rPr>
              <a:t>Governing equations</a:t>
            </a:r>
          </a:p>
        </p:txBody>
      </p:sp>
      <p:sp>
        <p:nvSpPr>
          <p:cNvPr id="107" name="Desc 04"/>
          <p:cNvSpPr/>
          <p:nvPr/>
        </p:nvSpPr>
        <p:spPr>
          <a:xfrm>
            <a:off x="1560080" y="3567500"/>
            <a:ext cx="9961360" cy="320000"/>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rPr>
              <a:t>Radial-equilibrium derivation, retaining the meridional-curvature term</a:t>
            </a:r>
          </a:p>
        </p:txBody>
      </p:sp>
      <p:cxnSp>
        <p:nvCxnSpPr>
          <p:cNvPr id="108" name="RowDiv 04"/>
          <p:cNvCxnSpPr/>
          <p:nvPr/>
        </p:nvCxnSpPr>
        <p:spPr>
          <a:xfrm>
            <a:off x="640080" y="4075000"/>
            <a:ext cx="10881360" cy="0"/>
          </a:xfrm>
          <a:prstGeom prst="line">
            <a:avLst/>
          </a:prstGeom>
          <a:ln w="6350">
            <a:solidFill>
              <a:srgbClr val="E5E7EB"/>
            </a:solidFill>
          </a:ln>
        </p:spPr>
        <p:style>
          <a:lnRef idx="1">
            <a:schemeClr val="accent1"/>
          </a:lnRef>
          <a:fillRef idx="0">
            <a:schemeClr val="accent1"/>
          </a:fillRef>
          <a:effectRef idx="0">
            <a:schemeClr val="accent1"/>
          </a:effectRef>
          <a:fontRef idx="minor">
            <a:schemeClr val="tx1"/>
          </a:fontRef>
        </p:style>
      </p:cxnSp>
      <p:sp>
        <p:nvSpPr>
          <p:cNvPr id="110" name="Badge 05"/>
          <p:cNvSpPr/>
          <p:nvPr/>
        </p:nvSpPr>
        <p:spPr>
          <a:xfrm>
            <a:off x="640080" y="4298750"/>
            <a:ext cx="600000" cy="600000"/>
          </a:xfrm>
          <a:prstGeom prst="roundRect">
            <a:avLst>
              <a:gd name="adj" fmla="val 16000"/>
            </a:avLst>
          </a:prstGeom>
          <a:solidFill>
            <a:srgbClr val="1D4ED8"/>
          </a:solidFill>
          <a:ln>
            <a:noFill/>
          </a:ln>
        </p:spPr>
        <p:txBody>
          <a:bodyPr lIns="0" tIns="0" rIns="0" bIns="0" rtlCol="0" anchor="ctr"/>
          <a:lstStyle/>
          <a:p>
            <a:pPr algn="ctr">
              <a:buNone/>
            </a:pPr>
            <a:r>
              <a:rPr lang="en-US" sz="2400" b="1" dirty="0">
                <a:solidFill>
                  <a:srgbClr val="FFFFFF"/>
                </a:solidFill>
                <a:latin typeface="Arial" pitchFamily="34" charset="0"/>
              </a:rPr>
              <a:t>05</a:t>
            </a:r>
          </a:p>
        </p:txBody>
      </p:sp>
      <p:sp>
        <p:nvSpPr>
          <p:cNvPr id="111" name="Topic 05"/>
          <p:cNvSpPr/>
          <p:nvPr/>
        </p:nvSpPr>
        <p:spPr>
          <a:xfrm>
            <a:off x="1560080" y="4225000"/>
            <a:ext cx="9961360" cy="380000"/>
          </a:xfrm>
          <a:prstGeom prst="rect">
            <a:avLst/>
          </a:prstGeom>
          <a:noFill/>
          <a:ln/>
        </p:spPr>
        <p:txBody>
          <a:bodyPr wrap="square" lIns="0" tIns="0" rIns="0" bIns="0" rtlCol="0" anchor="t"/>
          <a:lstStyle/>
          <a:p>
            <a:pPr marL="0" indent="0" algn="l">
              <a:buNone/>
            </a:pPr>
            <a:r>
              <a:rPr lang="en-US" sz="2200" b="1" dirty="0">
                <a:solidFill>
                  <a:srgbClr val="111111"/>
                </a:solidFill>
                <a:latin typeface="Arial" pitchFamily="34" charset="0"/>
              </a:rPr>
              <a:t>Solver modes</a:t>
            </a:r>
          </a:p>
        </p:txBody>
      </p:sp>
      <p:sp>
        <p:nvSpPr>
          <p:cNvPr id="112" name="Desc 05"/>
          <p:cNvSpPr/>
          <p:nvPr/>
        </p:nvSpPr>
        <p:spPr>
          <a:xfrm>
            <a:off x="1560080" y="4615000"/>
            <a:ext cx="9961360" cy="320000"/>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rPr>
              <a:t>Pressure-balance and angle-matching, with the stability envelope</a:t>
            </a:r>
          </a:p>
        </p:txBody>
      </p:sp>
      <p:cxnSp>
        <p:nvCxnSpPr>
          <p:cNvPr id="113" name="RowDiv 05"/>
          <p:cNvCxnSpPr/>
          <p:nvPr/>
        </p:nvCxnSpPr>
        <p:spPr>
          <a:xfrm>
            <a:off x="640080" y="5122500"/>
            <a:ext cx="10881360" cy="0"/>
          </a:xfrm>
          <a:prstGeom prst="line">
            <a:avLst/>
          </a:prstGeom>
          <a:ln w="6350">
            <a:solidFill>
              <a:srgbClr val="E5E7EB"/>
            </a:solidFill>
          </a:ln>
        </p:spPr>
        <p:style>
          <a:lnRef idx="1">
            <a:schemeClr val="accent1"/>
          </a:lnRef>
          <a:fillRef idx="0">
            <a:schemeClr val="accent1"/>
          </a:fillRef>
          <a:effectRef idx="0">
            <a:schemeClr val="accent1"/>
          </a:effectRef>
          <a:fontRef idx="minor">
            <a:schemeClr val="tx1"/>
          </a:fontRef>
        </p:style>
      </p:cxnSp>
      <p:sp>
        <p:nvSpPr>
          <p:cNvPr id="115" name="Badge 06"/>
          <p:cNvSpPr/>
          <p:nvPr/>
        </p:nvSpPr>
        <p:spPr>
          <a:xfrm>
            <a:off x="640080" y="5346250"/>
            <a:ext cx="600000" cy="600000"/>
          </a:xfrm>
          <a:prstGeom prst="roundRect">
            <a:avLst>
              <a:gd name="adj" fmla="val 16000"/>
            </a:avLst>
          </a:prstGeom>
          <a:solidFill>
            <a:srgbClr val="1D4ED8"/>
          </a:solidFill>
          <a:ln>
            <a:noFill/>
          </a:ln>
        </p:spPr>
        <p:txBody>
          <a:bodyPr lIns="0" tIns="0" rIns="0" bIns="0" rtlCol="0" anchor="ctr"/>
          <a:lstStyle/>
          <a:p>
            <a:pPr algn="ctr">
              <a:buNone/>
            </a:pPr>
            <a:r>
              <a:rPr lang="en-US" sz="2400" b="1" dirty="0">
                <a:solidFill>
                  <a:srgbClr val="FFFFFF"/>
                </a:solidFill>
                <a:latin typeface="Arial" pitchFamily="34" charset="0"/>
              </a:rPr>
              <a:t>06</a:t>
            </a:r>
          </a:p>
        </p:txBody>
      </p:sp>
      <p:sp>
        <p:nvSpPr>
          <p:cNvPr id="116" name="Topic 06"/>
          <p:cNvSpPr/>
          <p:nvPr/>
        </p:nvSpPr>
        <p:spPr>
          <a:xfrm>
            <a:off x="1560080" y="5272500"/>
            <a:ext cx="9961360" cy="380000"/>
          </a:xfrm>
          <a:prstGeom prst="rect">
            <a:avLst/>
          </a:prstGeom>
          <a:noFill/>
          <a:ln/>
        </p:spPr>
        <p:txBody>
          <a:bodyPr wrap="square" lIns="0" tIns="0" rIns="0" bIns="0" rtlCol="0" anchor="t"/>
          <a:lstStyle/>
          <a:p>
            <a:pPr marL="0" indent="0" algn="l">
              <a:buNone/>
            </a:pPr>
            <a:r>
              <a:rPr lang="en-US" sz="2200" b="1" dirty="0">
                <a:solidFill>
                  <a:srgbClr val="111111"/>
                </a:solidFill>
                <a:latin typeface="Arial" pitchFamily="34" charset="0"/>
              </a:rPr>
              <a:t>Turbine loss models</a:t>
            </a:r>
          </a:p>
        </p:txBody>
      </p:sp>
      <p:sp>
        <p:nvSpPr>
          <p:cNvPr id="117" name="Desc 06"/>
          <p:cNvSpPr/>
          <p:nvPr/>
        </p:nvSpPr>
        <p:spPr>
          <a:xfrm>
            <a:off x="1560080" y="5662500"/>
            <a:ext cx="9961360" cy="320000"/>
          </a:xfrm>
          <a:prstGeom prst="rect">
            <a:avLst/>
          </a:prstGeom>
          <a:noFill/>
          <a:ln/>
        </p:spPr>
        <p:txBody>
          <a:bodyPr wrap="square" lIns="0" tIns="0" rIns="0" bIns="0" rtlCol="0" anchor="t"/>
          <a:lstStyle/>
          <a:p>
            <a:pPr marL="0" indent="0" algn="l">
              <a:buNone/>
            </a:pPr>
            <a:r>
              <a:rPr lang="en-US" sz="1400" dirty="0">
                <a:solidFill>
                  <a:srgbClr val="6B7280"/>
                </a:solidFill>
                <a:latin typeface="Arial" pitchFamily="34" charset="0"/>
              </a:rPr>
              <a:t>Legacy correlations as B-spline fits; ML-ready modular interface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03 · GEOMETRY</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Coordinate system and geometry</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7" name="Text 5"/>
          <p:cNvSpPr/>
          <p:nvPr/>
        </p:nvSpPr>
        <p:spPr>
          <a:xfrm>
            <a:off x="640080" y="5989320"/>
            <a:ext cx="6583680" cy="365760"/>
          </a:xfrm>
          <a:prstGeom prst="rect">
            <a:avLst/>
          </a:prstGeom>
          <a:noFill/>
          <a:ln/>
        </p:spPr>
        <p:txBody>
          <a:bodyPr wrap="square" lIns="0" tIns="0" rIns="0" bIns="0" rtlCol="0" anchor="t"/>
          <a:lstStyle/>
          <a:p>
            <a:pPr marL="0" indent="0" algn="l">
              <a:buNone/>
            </a:pPr>
            <a:r>
              <a:rPr lang="en-US" sz="1200" i="1" dirty="0">
                <a:solidFill>
                  <a:srgbClr val="6B7280"/>
                </a:solidFill>
                <a:latin typeface="Arial" pitchFamily="34" charset="0"/>
                <a:ea typeface="Arial" pitchFamily="34" charset="-122"/>
                <a:cs typeface="Arial" pitchFamily="34" charset="-120"/>
              </a:rPr>
              <a:t>Velocity decomposition. The angle α is measured from V to the meridional Vₘ.</a:t>
            </a:r>
            <a:endParaRPr lang="en-US" sz="1200" dirty="0"/>
          </a:p>
        </p:txBody>
      </p:sp>
      <p:sp>
        <p:nvSpPr>
          <p:cNvPr id="8" name="Text 6"/>
          <p:cNvSpPr/>
          <p:nvPr/>
        </p:nvSpPr>
        <p:spPr>
          <a:xfrm>
            <a:off x="7680960" y="1783080"/>
            <a:ext cx="384048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Built for radial flow paths</a:t>
            </a:r>
            <a:endParaRPr lang="en-US" sz="1800" dirty="0"/>
          </a:p>
        </p:txBody>
      </p:sp>
      <p:sp>
        <p:nvSpPr>
          <p:cNvPr id="9" name="Text 7"/>
          <p:cNvSpPr/>
          <p:nvPr/>
        </p:nvSpPr>
        <p:spPr>
          <a:xfrm>
            <a:off x="5721293" y="2286000"/>
            <a:ext cx="5800147" cy="1259228"/>
          </a:xfrm>
          <a:prstGeom prst="rect">
            <a:avLst/>
          </a:prstGeom>
          <a:noFill/>
          <a:ln/>
        </p:spPr>
        <p:txBody>
          <a:bodyPr wrap="square" lIns="0" tIns="0" rIns="0" bIns="0" rtlCol="0" anchor="t"/>
          <a:lstStyle/>
          <a:p>
            <a:pPr marL="285750" indent="-285750" algn="l">
              <a:spcAft>
                <a:spcPts val="600"/>
              </a:spcAft>
              <a:buFont typeface="Arial" panose="020B0604020202020204" pitchFamily="34" charset="0"/>
              <a:buChar char="•"/>
            </a:pPr>
            <a:r>
              <a:rPr lang="en-US" sz="1400" dirty="0">
                <a:solidFill>
                  <a:srgbClr val="111111"/>
                </a:solidFill>
                <a:latin typeface="Arial" pitchFamily="34" charset="0"/>
                <a:ea typeface="Arial" pitchFamily="34" charset="-122"/>
                <a:cs typeface="Arial" pitchFamily="34" charset="-120"/>
              </a:rPr>
              <a:t>Angles are defined relative to the meridional velocity, not the axial. </a:t>
            </a:r>
          </a:p>
          <a:p>
            <a:pPr marL="285750" indent="-285750" algn="l">
              <a:spcAft>
                <a:spcPts val="600"/>
              </a:spcAft>
              <a:buFont typeface="Arial" panose="020B0604020202020204" pitchFamily="34" charset="0"/>
              <a:buChar char="•"/>
            </a:pPr>
            <a:r>
              <a:rPr lang="en-US" sz="1400" dirty="0">
                <a:solidFill>
                  <a:srgbClr val="111111"/>
                </a:solidFill>
                <a:latin typeface="Arial" pitchFamily="34" charset="0"/>
                <a:ea typeface="Arial" pitchFamily="34" charset="-122"/>
                <a:cs typeface="Arial" pitchFamily="34" charset="-120"/>
              </a:rPr>
              <a:t>Hub and shroud are defined as smooth curves rather than the jagged blade-row endpoints of legacy codes, giving accurate radius-of-curvature and inclination angles that drive the radial-equilibrium balance.</a:t>
            </a:r>
            <a:endParaRPr lang="en-US" sz="1400" dirty="0"/>
          </a:p>
        </p:txBody>
      </p:sp>
      <p:sp>
        <p:nvSpPr>
          <p:cNvPr id="10" name="Shape 8"/>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1" name="Text 9"/>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03 · Geometry</a:t>
            </a:r>
            <a:endParaRPr lang="en-US" sz="900" dirty="0"/>
          </a:p>
        </p:txBody>
      </p:sp>
      <p:sp>
        <p:nvSpPr>
          <p:cNvPr id="12" name="Text 10"/>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04</a:t>
            </a:r>
            <a:endParaRPr lang="en-US" sz="900" dirty="0"/>
          </a:p>
        </p:txBody>
      </p:sp>
      <p:pic>
        <p:nvPicPr>
          <p:cNvPr id="6" name="Graphic 5">
            <a:extLst>
              <a:ext uri="{FF2B5EF4-FFF2-40B4-BE49-F238E27FC236}">
                <a16:creationId xmlns:a16="http://schemas.microsoft.com/office/drawing/2014/main" id="{3C7B8280-0FA5-B0A8-0FD1-7B97B7DD43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0080" y="1810000"/>
            <a:ext cx="4064757" cy="4120000"/>
          </a:xfrm>
          <a:prstGeom prst="rect">
            <a:avLst/>
          </a:prstGeom>
        </p:spPr>
      </p:pic>
      <p:pic>
        <p:nvPicPr>
          <p:cNvPr id="13" name="Graphic 12">
            <a:extLst>
              <a:ext uri="{FF2B5EF4-FFF2-40B4-BE49-F238E27FC236}">
                <a16:creationId xmlns:a16="http://schemas.microsoft.com/office/drawing/2014/main" id="{1FB2139E-452D-35FD-A428-26DEBA266D0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bwMode="auto">
          <a:xfrm>
            <a:off x="5472624" y="3545236"/>
            <a:ext cx="6048816" cy="24440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300" name="Force Diagram"/>
          <p:cNvPicPr>
            <a:picLocks noChangeAspect="1"/>
          </p:cNvPicPr>
          <p:nvPr/>
        </p:nvPicPr>
        <p:blipFill>
          <a:blip r:embed="rId2"/>
          <a:stretch>
            <a:fillRect/>
          </a:stretch>
        </p:blipFill>
        <p:spPr>
          <a:xfrm>
            <a:off x="411999" y="1691638"/>
            <a:ext cx="5380001" cy="4318533"/>
          </a:xfrm>
          <a:prstGeom prst="rect">
            <a:avLst/>
          </a:prstGeom>
        </p:spPr>
      </p:pic>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04 · GOVERNING EQUATION</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Radial equilibrium</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7" name="Text 5"/>
          <p:cNvSpPr/>
          <p:nvPr/>
        </p:nvSpPr>
        <p:spPr>
          <a:xfrm>
            <a:off x="640080" y="5989320"/>
            <a:ext cx="6583680" cy="365760"/>
          </a:xfrm>
          <a:prstGeom prst="rect">
            <a:avLst/>
          </a:prstGeom>
          <a:noFill/>
          <a:ln/>
        </p:spPr>
        <p:txBody>
          <a:bodyPr wrap="square" lIns="0" tIns="0" rIns="0" bIns="0" rtlCol="0" anchor="t"/>
          <a:lstStyle/>
          <a:p>
            <a:pPr marL="0" indent="0" algn="l">
              <a:buNone/>
            </a:pPr>
            <a:r>
              <a:rPr lang="en-US" sz="1200" i="1" dirty="0">
                <a:solidFill>
                  <a:srgbClr val="6B7280"/>
                </a:solidFill>
                <a:latin typeface="Arial" pitchFamily="34" charset="0"/>
                <a:ea typeface="Arial" pitchFamily="34" charset="-122"/>
                <a:cs typeface="Arial" pitchFamily="34" charset="-120"/>
              </a:rPr>
              <a:t>Four-force balance on a fluid element. The radial pressure gradient must keep the element on its streamline.</a:t>
            </a:r>
            <a:endParaRPr lang="en-US" sz="1200" dirty="0"/>
          </a:p>
        </p:txBody>
      </p:sp>
      <p:sp>
        <p:nvSpPr>
          <p:cNvPr id="9" name="Text 7"/>
          <p:cNvSpPr/>
          <p:nvPr/>
        </p:nvSpPr>
        <p:spPr>
          <a:xfrm>
            <a:off x="5871358" y="4255610"/>
            <a:ext cx="5908643" cy="1679058"/>
          </a:xfrm>
          <a:prstGeom prst="rect">
            <a:avLst/>
          </a:prstGeom>
          <a:noFill/>
          <a:ln/>
        </p:spPr>
        <p:txBody>
          <a:bodyPr wrap="square" lIns="0" tIns="0" rIns="0" bIns="0" rtlCol="0" anchor="t"/>
          <a:lstStyle/>
          <a:p>
            <a:pPr marL="0" indent="0" algn="l">
              <a:spcAft>
                <a:spcPts val="600"/>
              </a:spcAft>
              <a:buNone/>
            </a:pPr>
            <a:r>
              <a:rPr lang="en-US" sz="1200" dirty="0">
                <a:solidFill>
                  <a:srgbClr val="111111"/>
                </a:solidFill>
                <a:latin typeface="Arial" pitchFamily="34" charset="0"/>
                <a:ea typeface="Arial" pitchFamily="34" charset="-122"/>
                <a:cs typeface="Arial" pitchFamily="34" charset="-120"/>
              </a:rPr>
              <a:t>Most 1D analyses drop the last term. For axial machines that is fine — Vᵣ is small. For radial machines, where hub and shroud radii change significantly, dropping it introduces error in turning angles and streamline positions. Turbo-Design retains the term, computed as dM = (dx, dr) along the streamline.</a:t>
            </a:r>
          </a:p>
        </p:txBody>
      </p:sp>
      <p:sp>
        <p:nvSpPr>
          <p:cNvPr id="10" name="Shape 8"/>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1" name="Text 9"/>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04 · Radial Equilibrium</a:t>
            </a:r>
            <a:endParaRPr lang="en-US" sz="900" dirty="0"/>
          </a:p>
        </p:txBody>
      </p:sp>
      <p:sp>
        <p:nvSpPr>
          <p:cNvPr id="12" name="Text 10"/>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05</a:t>
            </a:r>
            <a:endParaRPr lang="en-US" sz="9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FAF149F-10D9-4CBB-44F3-22DD0A91F1BE}"/>
                  </a:ext>
                </a:extLst>
              </p:cNvPr>
              <p:cNvSpPr txBox="1"/>
              <p:nvPr/>
            </p:nvSpPr>
            <p:spPr>
              <a:xfrm>
                <a:off x="5638162" y="1783079"/>
                <a:ext cx="4108511" cy="7630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acc>
                            <m:accPr>
                              <m:chr m:val="⃗"/>
                              <m:ctrlPr>
                                <a:rPr lang="en-US" i="1">
                                  <a:latin typeface="Cambria Math" panose="02040503050406030204" pitchFamily="18" charset="0"/>
                                </a:rPr>
                              </m:ctrlPr>
                            </m:accPr>
                            <m:e>
                              <m:r>
                                <a:rPr lang="en-US" i="1">
                                  <a:latin typeface="Cambria Math" panose="02040503050406030204" pitchFamily="18" charset="0"/>
                                </a:rPr>
                                <m:t>𝐹</m:t>
                              </m:r>
                            </m:e>
                          </m:acc>
                        </m:e>
                      </m:nary>
                      <m:r>
                        <a:rPr lang="en-US" i="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𝐹</m:t>
                              </m:r>
                            </m:e>
                          </m:acc>
                        </m:e>
                        <m:sub>
                          <m:r>
                            <a:rPr lang="en-US" i="1">
                              <a:latin typeface="Cambria Math" panose="02040503050406030204" pitchFamily="18" charset="0"/>
                            </a:rPr>
                            <m:t>𝑃</m:t>
                          </m:r>
                          <m:r>
                            <a:rPr lang="en-US" i="0">
                              <a:latin typeface="Cambria Math" panose="02040503050406030204" pitchFamily="18" charset="0"/>
                            </a:rPr>
                            <m:t>,</m:t>
                          </m:r>
                          <m:r>
                            <a:rPr lang="en-US" i="1">
                              <a:latin typeface="Cambria Math" panose="02040503050406030204" pitchFamily="18" charset="0"/>
                            </a:rPr>
                            <m:t>𝑛𝑒𝑡</m:t>
                          </m:r>
                        </m:sub>
                      </m:sSub>
                      <m:r>
                        <a:rPr lang="en-US" i="0">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𝑐</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𝑀</m:t>
                              </m:r>
                              <m:r>
                                <a:rPr lang="en-US" i="0">
                                  <a:latin typeface="Cambria Math" panose="02040503050406030204" pitchFamily="18" charset="0"/>
                                </a:rPr>
                                <m:t>,</m:t>
                              </m:r>
                              <m:r>
                                <a:rPr lang="en-US" i="1">
                                  <a:latin typeface="Cambria Math" panose="02040503050406030204" pitchFamily="18" charset="0"/>
                                </a:rPr>
                                <m:t>𝑐</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𝑀</m:t>
                              </m:r>
                              <m:r>
                                <a:rPr lang="en-US" i="0">
                                  <a:latin typeface="Cambria Math" panose="02040503050406030204" pitchFamily="18" charset="0"/>
                                </a:rPr>
                                <m:t>,</m:t>
                              </m:r>
                              <m:r>
                                <a:rPr lang="en-US" i="1">
                                  <a:latin typeface="Cambria Math" panose="02040503050406030204" pitchFamily="18" charset="0"/>
                                </a:rPr>
                                <m:t>𝑟</m:t>
                              </m:r>
                            </m:sub>
                          </m:sSub>
                        </m:e>
                      </m:d>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𝑟</m:t>
                          </m:r>
                        </m:e>
                      </m:acc>
                    </m:oMath>
                  </m:oMathPara>
                </a14:m>
                <a:endParaRPr lang="en-US" dirty="0"/>
              </a:p>
            </p:txBody>
          </p:sp>
        </mc:Choice>
        <mc:Fallback xmlns="">
          <p:sp>
            <p:nvSpPr>
              <p:cNvPr id="15" name="TextBox 14">
                <a:extLst>
                  <a:ext uri="{FF2B5EF4-FFF2-40B4-BE49-F238E27FC236}">
                    <a16:creationId xmlns:a16="http://schemas.microsoft.com/office/drawing/2014/main" id="{DFAF149F-10D9-4CBB-44F3-22DD0A91F1BE}"/>
                  </a:ext>
                </a:extLst>
              </p:cNvPr>
              <p:cNvSpPr txBox="1">
                <a:spLocks noRot="1" noChangeAspect="1" noMove="1" noResize="1" noEditPoints="1" noAdjustHandles="1" noChangeArrowheads="1" noChangeShapeType="1" noTextEdit="1"/>
              </p:cNvSpPr>
              <p:nvPr/>
            </p:nvSpPr>
            <p:spPr>
              <a:xfrm>
                <a:off x="5638162" y="1783079"/>
                <a:ext cx="4108511" cy="763029"/>
              </a:xfrm>
              <a:prstGeom prst="rect">
                <a:avLst/>
              </a:prstGeom>
              <a:blipFill>
                <a:blip r:embed="rId3"/>
                <a:stretch>
                  <a:fillRect l="-13889" t="-122951" b="-170492"/>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E03F7AF9-5DAC-6C4B-215E-491670247064}"/>
              </a:ext>
            </a:extLst>
          </p:cNvPr>
          <p:cNvSpPr txBox="1"/>
          <p:nvPr/>
        </p:nvSpPr>
        <p:spPr>
          <a:xfrm>
            <a:off x="9874050" y="1945109"/>
            <a:ext cx="466794" cy="369332"/>
          </a:xfrm>
          <a:prstGeom prst="rect">
            <a:avLst/>
          </a:prstGeom>
          <a:noFill/>
        </p:spPr>
        <p:txBody>
          <a:bodyPr wrap="none" rtlCol="0">
            <a:spAutoFit/>
          </a:bodyPr>
          <a:lstStyle/>
          <a:p>
            <a:r>
              <a:rPr lang="en-US" dirty="0"/>
              <a:t>(5)</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F4EA8CA-0A4C-1C8B-C1D7-B8D0392321FB}"/>
                  </a:ext>
                </a:extLst>
              </p:cNvPr>
              <p:cNvSpPr txBox="1"/>
              <p:nvPr/>
            </p:nvSpPr>
            <p:spPr>
              <a:xfrm>
                <a:off x="5766489" y="3135778"/>
                <a:ext cx="4005695" cy="6994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𝑟</m:t>
                          </m:r>
                        </m:e>
                      </m:acc>
                      <m:r>
                        <a:rPr lang="en-US" i="0">
                          <a:latin typeface="Cambria Math" panose="02040503050406030204" pitchFamily="18" charset="0"/>
                        </a:rPr>
                        <m:t>:  </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1">
                              <a:latin typeface="Cambria Math" panose="02040503050406030204" pitchFamily="18" charset="0"/>
                            </a:rPr>
                            <m:t>𝜌</m:t>
                          </m:r>
                        </m:den>
                      </m:f>
                      <m:f>
                        <m:fPr>
                          <m:ctrlPr>
                            <a:rPr lang="en-US" i="1">
                              <a:latin typeface="Cambria Math" panose="02040503050406030204" pitchFamily="18" charset="0"/>
                            </a:rPr>
                          </m:ctrlPr>
                        </m:fPr>
                        <m:num>
                          <m:r>
                            <a:rPr lang="en-US" i="1">
                              <a:latin typeface="Cambria Math" panose="02040503050406030204" pitchFamily="18" charset="0"/>
                            </a:rPr>
                            <m:t>𝑑𝑃</m:t>
                          </m:r>
                        </m:num>
                        <m:den>
                          <m:r>
                            <a:rPr lang="en-US" i="1">
                              <a:latin typeface="Cambria Math" panose="02040503050406030204" pitchFamily="18" charset="0"/>
                            </a:rPr>
                            <m:t>𝑑𝑟</m:t>
                          </m:r>
                        </m:den>
                      </m:f>
                      <m:r>
                        <a:rPr lang="en-US" i="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𝑇</m:t>
                              </m:r>
                            </m:sub>
                            <m:sup>
                              <m:r>
                                <a:rPr lang="en-US" i="0">
                                  <a:latin typeface="Cambria Math" panose="02040503050406030204" pitchFamily="18" charset="0"/>
                                </a:rPr>
                                <m:t>2</m:t>
                              </m:r>
                            </m:sup>
                          </m:sSubSup>
                        </m:num>
                        <m:den>
                          <m:r>
                            <a:rPr lang="en-US" i="1">
                              <a:latin typeface="Cambria Math" panose="02040503050406030204" pitchFamily="18" charset="0"/>
                            </a:rPr>
                            <m:t>𝑟</m:t>
                          </m:r>
                        </m:den>
                      </m:f>
                      <m:r>
                        <a:rPr lang="en-US" i="0">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𝑀</m:t>
                              </m:r>
                            </m:sub>
                            <m:sup>
                              <m:r>
                                <a:rPr lang="en-US" i="0">
                                  <a:latin typeface="Cambria Math" panose="02040503050406030204" pitchFamily="18" charset="0"/>
                                </a:rPr>
                                <m:t>2</m:t>
                              </m:r>
                            </m:sup>
                          </m:sSubSup>
                        </m:num>
                        <m:den>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𝑀</m:t>
                              </m:r>
                            </m:sub>
                          </m:sSub>
                        </m:den>
                      </m:f>
                      <m:func>
                        <m:funcPr>
                          <m:ctrlPr>
                            <a:rPr lang="en-US" i="1">
                              <a:latin typeface="Cambria Math" panose="02040503050406030204" pitchFamily="18" charset="0"/>
                            </a:rPr>
                          </m:ctrlPr>
                        </m:funcPr>
                        <m:fName>
                          <m:r>
                            <a:rPr lang="en-US" i="1">
                              <a:latin typeface="Cambria Math" panose="02040503050406030204" pitchFamily="18" charset="0"/>
                            </a:rPr>
                            <m:t>𝑐𝑜𝑠</m:t>
                          </m:r>
                        </m:fName>
                        <m:e>
                          <m:d>
                            <m:dPr>
                              <m:ctrlPr>
                                <a:rPr lang="en-US" i="1">
                                  <a:latin typeface="Cambria Math" panose="02040503050406030204" pitchFamily="18" charset="0"/>
                                </a:rPr>
                              </m:ctrlPr>
                            </m:dPr>
                            <m:e>
                              <m:r>
                                <a:rPr lang="en-US" i="1">
                                  <a:latin typeface="Cambria Math" panose="02040503050406030204" pitchFamily="18" charset="0"/>
                                </a:rPr>
                                <m:t>𝜙</m:t>
                              </m:r>
                            </m:e>
                          </m:d>
                        </m:e>
                      </m:func>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𝑟</m:t>
                          </m:r>
                        </m:sub>
                      </m:sSub>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𝑀</m:t>
                              </m:r>
                            </m:sub>
                          </m:sSub>
                        </m:num>
                        <m:den>
                          <m:r>
                            <a:rPr lang="en-US" i="1">
                              <a:latin typeface="Cambria Math" panose="02040503050406030204" pitchFamily="18" charset="0"/>
                            </a:rPr>
                            <m:t>𝑑𝑀</m:t>
                          </m:r>
                        </m:den>
                      </m:f>
                    </m:oMath>
                  </m:oMathPara>
                </a14:m>
                <a:endParaRPr lang="en-US" dirty="0"/>
              </a:p>
            </p:txBody>
          </p:sp>
        </mc:Choice>
        <mc:Fallback xmlns="">
          <p:sp>
            <p:nvSpPr>
              <p:cNvPr id="18" name="TextBox 17">
                <a:extLst>
                  <a:ext uri="{FF2B5EF4-FFF2-40B4-BE49-F238E27FC236}">
                    <a16:creationId xmlns:a16="http://schemas.microsoft.com/office/drawing/2014/main" id="{1F4EA8CA-0A4C-1C8B-C1D7-B8D0392321FB}"/>
                  </a:ext>
                </a:extLst>
              </p:cNvPr>
              <p:cNvSpPr txBox="1">
                <a:spLocks noRot="1" noChangeAspect="1" noMove="1" noResize="1" noEditPoints="1" noAdjustHandles="1" noChangeArrowheads="1" noChangeShapeType="1" noTextEdit="1"/>
              </p:cNvSpPr>
              <p:nvPr/>
            </p:nvSpPr>
            <p:spPr>
              <a:xfrm>
                <a:off x="5766489" y="3135778"/>
                <a:ext cx="4005695" cy="699422"/>
              </a:xfrm>
              <a:prstGeom prst="rect">
                <a:avLst/>
              </a:prstGeom>
              <a:blipFill>
                <a:blip r:embed="rId4"/>
                <a:stretch>
                  <a:fillRect b="-7143"/>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47330F4B-B63E-78C4-9987-0D590DE60E6D}"/>
              </a:ext>
            </a:extLst>
          </p:cNvPr>
          <p:cNvSpPr txBox="1"/>
          <p:nvPr/>
        </p:nvSpPr>
        <p:spPr>
          <a:xfrm>
            <a:off x="9745809" y="3316872"/>
            <a:ext cx="595035" cy="369332"/>
          </a:xfrm>
          <a:prstGeom prst="rect">
            <a:avLst/>
          </a:prstGeom>
          <a:noFill/>
        </p:spPr>
        <p:txBody>
          <a:bodyPr wrap="none" rtlCol="0">
            <a:spAutoFit/>
          </a:bodyPr>
          <a:lstStyle/>
          <a:p>
            <a:r>
              <a:rPr lang="en-US" dirty="0"/>
              <a:t>(15)</a:t>
            </a:r>
          </a:p>
        </p:txBody>
      </p:sp>
      <p:sp>
        <p:nvSpPr>
          <p:cNvPr id="20" name="TextBox 19">
            <a:extLst>
              <a:ext uri="{FF2B5EF4-FFF2-40B4-BE49-F238E27FC236}">
                <a16:creationId xmlns:a16="http://schemas.microsoft.com/office/drawing/2014/main" id="{55FC35C5-C67C-0228-03CB-693B03512C85}"/>
              </a:ext>
            </a:extLst>
          </p:cNvPr>
          <p:cNvSpPr txBox="1"/>
          <p:nvPr/>
        </p:nvSpPr>
        <p:spPr>
          <a:xfrm>
            <a:off x="5897415" y="3835200"/>
            <a:ext cx="2492990" cy="261610"/>
          </a:xfrm>
          <a:prstGeom prst="rect">
            <a:avLst/>
          </a:prstGeom>
          <a:noFill/>
        </p:spPr>
        <p:txBody>
          <a:bodyPr wrap="none" rtlCol="0">
            <a:spAutoFit/>
          </a:bodyPr>
          <a:lstStyle/>
          <a:p>
            <a:r>
              <a:rPr lang="en-US" sz="1100" dirty="0"/>
              <a:t>OTAC Manual [10] and Cumpsty [11]</a:t>
            </a:r>
          </a:p>
        </p:txBody>
      </p:sp>
      <p:sp>
        <p:nvSpPr>
          <p:cNvPr id="21" name="TextBox 20">
            <a:extLst>
              <a:ext uri="{FF2B5EF4-FFF2-40B4-BE49-F238E27FC236}">
                <a16:creationId xmlns:a16="http://schemas.microsoft.com/office/drawing/2014/main" id="{1AE94D1D-E4EE-ED87-0822-28D542E19802}"/>
              </a:ext>
            </a:extLst>
          </p:cNvPr>
          <p:cNvSpPr txBox="1"/>
          <p:nvPr/>
        </p:nvSpPr>
        <p:spPr>
          <a:xfrm>
            <a:off x="7818315" y="2623926"/>
            <a:ext cx="2116285" cy="261610"/>
          </a:xfrm>
          <a:prstGeom prst="rect">
            <a:avLst/>
          </a:prstGeom>
          <a:noFill/>
        </p:spPr>
        <p:txBody>
          <a:bodyPr wrap="none" rtlCol="0">
            <a:spAutoFit/>
          </a:bodyPr>
          <a:lstStyle/>
          <a:p>
            <a:r>
              <a:rPr lang="en-US" sz="1100" dirty="0"/>
              <a:t>Full derivation in Appendix A</a:t>
            </a:r>
          </a:p>
        </p:txBody>
      </p:sp>
      <p:sp>
        <p:nvSpPr>
          <p:cNvPr id="22" name="TextBox 21">
            <a:extLst>
              <a:ext uri="{FF2B5EF4-FFF2-40B4-BE49-F238E27FC236}">
                <a16:creationId xmlns:a16="http://schemas.microsoft.com/office/drawing/2014/main" id="{54E9ADB1-FE30-59CD-F5AD-E73FF5E77173}"/>
              </a:ext>
            </a:extLst>
          </p:cNvPr>
          <p:cNvSpPr txBox="1"/>
          <p:nvPr/>
        </p:nvSpPr>
        <p:spPr>
          <a:xfrm rot="5400000">
            <a:off x="7561155" y="2573775"/>
            <a:ext cx="415498" cy="369332"/>
          </a:xfrm>
          <a:prstGeom prst="rect">
            <a:avLst/>
          </a:prstGeom>
          <a:noFill/>
        </p:spPr>
        <p:txBody>
          <a:bodyPr wrap="none" rtlCol="0">
            <a:spAutoFit/>
          </a:bodyPr>
          <a:lstStyle/>
          <a:p>
            <a:r>
              <a:rPr lang="en-US" dirty="0"/>
              <a:t>…</a:t>
            </a:r>
          </a:p>
        </p:txBody>
      </p:sp>
      <p:cxnSp>
        <p:nvCxnSpPr>
          <p:cNvPr id="24" name="Straight Connector 23">
            <a:extLst>
              <a:ext uri="{FF2B5EF4-FFF2-40B4-BE49-F238E27FC236}">
                <a16:creationId xmlns:a16="http://schemas.microsoft.com/office/drawing/2014/main" id="{E534941F-7DCC-C08F-29C2-4476B5397403}"/>
              </a:ext>
            </a:extLst>
          </p:cNvPr>
          <p:cNvCxnSpPr/>
          <p:nvPr/>
        </p:nvCxnSpPr>
        <p:spPr>
          <a:xfrm>
            <a:off x="8876458" y="3835200"/>
            <a:ext cx="558487" cy="0"/>
          </a:xfrm>
          <a:prstGeom prst="line">
            <a:avLst/>
          </a:prstGeom>
        </p:spPr>
        <p:style>
          <a:lnRef idx="2">
            <a:schemeClr val="accent3"/>
          </a:lnRef>
          <a:fillRef idx="0">
            <a:schemeClr val="accent3"/>
          </a:fillRef>
          <a:effectRef idx="1">
            <a:schemeClr val="accent3"/>
          </a:effectRef>
          <a:fontRef idx="minor">
            <a:schemeClr val="tx1"/>
          </a:fontRef>
        </p:style>
      </p:cxnSp>
      <p:pic>
        <p:nvPicPr>
          <p:cNvPr id="1026" name="Picture 2">
            <a:extLst>
              <a:ext uri="{FF2B5EF4-FFF2-40B4-BE49-F238E27FC236}">
                <a16:creationId xmlns:a16="http://schemas.microsoft.com/office/drawing/2014/main" id="{8466CA00-805F-5CF2-BD89-D0DB0D2ED3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91585" y="2112050"/>
            <a:ext cx="1309810" cy="1309810"/>
          </a:xfrm>
          <a:prstGeom prst="rect">
            <a:avLst/>
          </a:prstGeom>
          <a:noFill/>
          <a:extLst>
            <a:ext uri="{909E8E84-426E-40DD-AFC4-6F175D3DCCD1}">
              <a14:hiddenFill xmlns:a14="http://schemas.microsoft.com/office/drawing/2010/main">
                <a:solidFill>
                  <a:srgbClr val="FFFFFF"/>
                </a:solidFill>
              </a14:hiddenFill>
            </a:ext>
          </a:extLst>
        </p:spPr>
      </p:pic>
      <p:sp>
        <p:nvSpPr>
          <p:cNvPr id="1300" name="QR Label"/>
          <p:cNvSpPr txBox="1"/>
          <p:nvPr/>
        </p:nvSpPr>
        <p:spPr>
          <a:xfrm>
            <a:off x="10534784" y="3470000"/>
            <a:ext cx="1223412" cy="369332"/>
          </a:xfrm>
          <a:prstGeom prst="rect">
            <a:avLst/>
          </a:prstGeom>
          <a:solidFill>
            <a:schemeClr val="bg1"/>
          </a:solidFill>
        </p:spPr>
        <p:txBody>
          <a:bodyPr wrap="none" rtlCol="0">
            <a:spAutoFit/>
          </a:bodyPr>
          <a:lstStyle/>
          <a:p>
            <a:pPr algn="ctr"/>
            <a:r>
              <a:rPr lang="en-US" dirty="0"/>
              <a:t>Derivation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05 · SOLVER</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Solver modes</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5" name="Text 3"/>
          <p:cNvSpPr/>
          <p:nvPr/>
        </p:nvSpPr>
        <p:spPr>
          <a:xfrm>
            <a:off x="640080" y="1828800"/>
            <a:ext cx="516636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Pressure Balance mode</a:t>
            </a:r>
            <a:endParaRPr lang="en-US" sz="1800" dirty="0"/>
          </a:p>
        </p:txBody>
      </p:sp>
      <p:sp>
        <p:nvSpPr>
          <p:cNvPr id="6" name="Text 4"/>
          <p:cNvSpPr/>
          <p:nvPr/>
        </p:nvSpPr>
        <p:spPr>
          <a:xfrm>
            <a:off x="640080" y="2331720"/>
            <a:ext cx="5166360" cy="2286000"/>
          </a:xfrm>
          <a:prstGeom prst="rect">
            <a:avLst/>
          </a:prstGeom>
          <a:noFill/>
          <a:ln/>
        </p:spPr>
        <p:txBody>
          <a:bodyPr wrap="square" lIns="0" tIns="0" rIns="0" bIns="0" rtlCol="0" anchor="t"/>
          <a:lstStyle/>
          <a:p>
            <a:pPr marL="285750" indent="-285750" algn="l">
              <a:spcAft>
                <a:spcPts val="600"/>
              </a:spcAft>
              <a:buFont typeface="Arial" panose="020B0604020202020204" pitchFamily="34" charset="0"/>
              <a:buChar char="•"/>
            </a:pPr>
            <a:r>
              <a:rPr lang="en-US" sz="1400" dirty="0">
                <a:solidFill>
                  <a:srgbClr val="111111"/>
                </a:solidFill>
                <a:latin typeface="Arial" pitchFamily="34" charset="0"/>
                <a:ea typeface="Arial" pitchFamily="34" charset="-122"/>
                <a:cs typeface="Arial" pitchFamily="34" charset="-120"/>
              </a:rPr>
              <a:t>Blade angles are known. The solver balances pressure across all blade rows simultaneously using SciPy SLSQP, expressing pressures as fractional drops bounded between 0 and 1. This forces monotonic pressure decrease and improves convergence.
Use for: design point analysis and off-design analysis when geometry is fixed.</a:t>
            </a:r>
            <a:endParaRPr lang="en-US" sz="1400" dirty="0"/>
          </a:p>
        </p:txBody>
      </p:sp>
      <p:sp>
        <p:nvSpPr>
          <p:cNvPr id="7" name="Text 5"/>
          <p:cNvSpPr/>
          <p:nvPr/>
        </p:nvSpPr>
        <p:spPr>
          <a:xfrm>
            <a:off x="6355080" y="1828800"/>
            <a:ext cx="516636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Angle Matching mode</a:t>
            </a:r>
            <a:endParaRPr lang="en-US" sz="1800" dirty="0"/>
          </a:p>
        </p:txBody>
      </p:sp>
      <p:sp>
        <p:nvSpPr>
          <p:cNvPr id="8" name="Text 6"/>
          <p:cNvSpPr/>
          <p:nvPr/>
        </p:nvSpPr>
        <p:spPr>
          <a:xfrm>
            <a:off x="6355080" y="2331720"/>
            <a:ext cx="5166360" cy="228600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Blade angles are unknown — the solver determines them</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Target mass-flow distribution from hub to shroud sets the radial loading</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Adjusting that distribution controls blade twist directly</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Use for: design exploration before geometry is finalized</a:t>
            </a:r>
            <a:endParaRPr lang="en-US" sz="1400" dirty="0"/>
          </a:p>
        </p:txBody>
      </p:sp>
      <p:sp>
        <p:nvSpPr>
          <p:cNvPr id="9" name="Shape 7"/>
          <p:cNvSpPr/>
          <p:nvPr/>
        </p:nvSpPr>
        <p:spPr>
          <a:xfrm>
            <a:off x="640080" y="4937760"/>
            <a:ext cx="10881360" cy="0"/>
          </a:xfrm>
          <a:prstGeom prst="line">
            <a:avLst/>
          </a:prstGeom>
          <a:noFill/>
          <a:ln w="6350">
            <a:solidFill>
              <a:srgbClr val="D1D5DB"/>
            </a:solidFill>
            <a:prstDash val="solid"/>
          </a:ln>
        </p:spPr>
        <p:txBody>
          <a:bodyPr/>
          <a:lstStyle/>
          <a:p>
            <a:endParaRPr lang="en-US"/>
          </a:p>
        </p:txBody>
      </p:sp>
      <p:sp>
        <p:nvSpPr>
          <p:cNvPr id="10" name="Text 8"/>
          <p:cNvSpPr/>
          <p:nvPr/>
        </p:nvSpPr>
        <p:spPr>
          <a:xfrm>
            <a:off x="640080" y="5166360"/>
            <a:ext cx="9393268" cy="731520"/>
          </a:xfrm>
          <a:prstGeom prst="rect">
            <a:avLst/>
          </a:prstGeom>
          <a:noFill/>
          <a:ln/>
        </p:spPr>
        <p:txBody>
          <a:bodyPr wrap="square" lIns="0" tIns="0" rIns="0" bIns="0" rtlCol="0" anchor="t"/>
          <a:lstStyle/>
          <a:p>
            <a:pPr marL="0" indent="0" algn="l">
              <a:buNone/>
            </a:pPr>
            <a:r>
              <a:rPr lang="en-US" sz="1600" b="0" dirty="0">
                <a:solidFill>
                  <a:srgbClr val="374151"/>
                </a:solidFill>
                <a:latin typeface="Arial" pitchFamily="34" charset="0"/>
                <a:ea typeface="Arial" pitchFamily="34" charset="-122"/>
                <a:cs typeface="Arial" pitchFamily="34" charset="-120"/>
              </a:rPr>
              <a:t>Stability: the kinetic-energy parameter C (Appendix A) must remain below unity. As C approaches 1 the passage chokes; the solver detects this condition and reports it rather than returning NaN.</a:t>
            </a:r>
            <a:endParaRPr lang="en-US" sz="1600" dirty="0"/>
          </a:p>
        </p:txBody>
      </p:sp>
      <p:sp>
        <p:nvSpPr>
          <p:cNvPr id="11" name="Shape 9"/>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2" name="Text 10"/>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05 · Solver Modes</a:t>
            </a:r>
            <a:endParaRPr lang="en-US" sz="900" dirty="0"/>
          </a:p>
        </p:txBody>
      </p:sp>
      <p:sp>
        <p:nvSpPr>
          <p:cNvPr id="13" name="Text 11"/>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06</a:t>
            </a:r>
            <a:endParaRPr lang="en-US" sz="900" dirty="0"/>
          </a:p>
        </p:txBody>
      </p:sp>
      <p:pic>
        <p:nvPicPr>
          <p:cNvPr id="2050" name="Picture 2">
            <a:extLst>
              <a:ext uri="{FF2B5EF4-FFF2-40B4-BE49-F238E27FC236}">
                <a16:creationId xmlns:a16="http://schemas.microsoft.com/office/drawing/2014/main" id="{CF64DF92-FC36-4F7E-1141-7639017769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0285" y="5038205"/>
            <a:ext cx="1271155" cy="127115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452905C-676D-04C6-558D-D3258F819591}"/>
              </a:ext>
            </a:extLst>
          </p:cNvPr>
          <p:cNvSpPr txBox="1"/>
          <p:nvPr/>
        </p:nvSpPr>
        <p:spPr>
          <a:xfrm>
            <a:off x="10257110" y="4663440"/>
            <a:ext cx="1223412" cy="369332"/>
          </a:xfrm>
          <a:prstGeom prst="rect">
            <a:avLst/>
          </a:prstGeom>
          <a:solidFill>
            <a:schemeClr val="bg1"/>
          </a:solidFill>
        </p:spPr>
        <p:txBody>
          <a:bodyPr wrap="none" rtlCol="0">
            <a:spAutoFit/>
          </a:bodyPr>
          <a:lstStyle/>
          <a:p>
            <a:pPr algn="ctr"/>
            <a:r>
              <a:rPr lang="en-US" dirty="0"/>
              <a:t>Derivation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06 · LOSS MODELS</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Loss models as a modular interface</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5" name="Text 3"/>
          <p:cNvSpPr/>
          <p:nvPr/>
        </p:nvSpPr>
        <p:spPr>
          <a:xfrm>
            <a:off x="640080" y="1828800"/>
            <a:ext cx="516636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Legacy correlations</a:t>
            </a:r>
            <a:endParaRPr lang="en-US" sz="1800" dirty="0"/>
          </a:p>
        </p:txBody>
      </p:sp>
      <p:sp>
        <p:nvSpPr>
          <p:cNvPr id="6" name="Text 4"/>
          <p:cNvSpPr/>
          <p:nvPr/>
        </p:nvSpPr>
        <p:spPr>
          <a:xfrm>
            <a:off x="640080" y="2331720"/>
            <a:ext cx="5166360" cy="2286000"/>
          </a:xfrm>
          <a:prstGeom prst="rect">
            <a:avLst/>
          </a:prstGeom>
          <a:noFill/>
          <a:ln/>
        </p:spPr>
        <p:txBody>
          <a:bodyPr wrap="square" lIns="0" tIns="0" rIns="0" bIns="0" rtlCol="0" anchor="t"/>
          <a:lstStyle/>
          <a:p>
            <a:pPr marL="0" indent="0" algn="l">
              <a:spcAft>
                <a:spcPts val="600"/>
              </a:spcAft>
              <a:buNone/>
            </a:pPr>
            <a:r>
              <a:rPr lang="en-US" sz="1400" dirty="0">
                <a:solidFill>
                  <a:srgbClr val="111111"/>
                </a:solidFill>
                <a:latin typeface="Arial" pitchFamily="34" charset="0"/>
                <a:ea typeface="Arial" pitchFamily="34" charset="-122"/>
                <a:cs typeface="Arial" pitchFamily="34" charset="-120"/>
              </a:rPr>
              <a:t>Four classical loss models are digitized from their original figures and fit as B-spline surfaces: </a:t>
            </a:r>
          </a:p>
          <a:p>
            <a:pPr marL="285750" indent="-285750" algn="l">
              <a:spcAft>
                <a:spcPts val="600"/>
              </a:spcAft>
              <a:buFont typeface="Arial" panose="020B0604020202020204" pitchFamily="34" charset="0"/>
              <a:buChar char="•"/>
            </a:pPr>
            <a:r>
              <a:rPr lang="en-US" sz="1400" dirty="0">
                <a:solidFill>
                  <a:srgbClr val="111111"/>
                </a:solidFill>
                <a:latin typeface="Arial" pitchFamily="34" charset="0"/>
                <a:ea typeface="Arial" pitchFamily="34" charset="-122"/>
                <a:cs typeface="Arial" pitchFamily="34" charset="-120"/>
              </a:rPr>
              <a:t>Ainley-Mathieson (1951)</a:t>
            </a:r>
          </a:p>
          <a:p>
            <a:pPr marL="285750" indent="-285750" algn="l">
              <a:spcAft>
                <a:spcPts val="600"/>
              </a:spcAft>
              <a:buFont typeface="Arial" panose="020B0604020202020204" pitchFamily="34" charset="0"/>
              <a:buChar char="•"/>
            </a:pPr>
            <a:r>
              <a:rPr lang="en-US" sz="1400" dirty="0" err="1">
                <a:solidFill>
                  <a:srgbClr val="111111"/>
                </a:solidFill>
                <a:latin typeface="Arial" pitchFamily="34" charset="0"/>
                <a:ea typeface="Arial" pitchFamily="34" charset="-122"/>
                <a:cs typeface="Arial" pitchFamily="34" charset="-120"/>
              </a:rPr>
              <a:t>Kacker-Okapuu</a:t>
            </a:r>
            <a:r>
              <a:rPr lang="en-US" sz="1400" dirty="0">
                <a:solidFill>
                  <a:srgbClr val="111111"/>
                </a:solidFill>
                <a:latin typeface="Arial" pitchFamily="34" charset="0"/>
                <a:ea typeface="Arial" pitchFamily="34" charset="-122"/>
                <a:cs typeface="Arial" pitchFamily="34" charset="-120"/>
              </a:rPr>
              <a:t> (1982)</a:t>
            </a:r>
          </a:p>
          <a:p>
            <a:pPr marL="285750" indent="-285750" algn="l">
              <a:spcAft>
                <a:spcPts val="600"/>
              </a:spcAft>
              <a:buFont typeface="Arial" panose="020B0604020202020204" pitchFamily="34" charset="0"/>
              <a:buChar char="•"/>
            </a:pPr>
            <a:r>
              <a:rPr lang="en-US" sz="1400" dirty="0">
                <a:solidFill>
                  <a:srgbClr val="111111"/>
                </a:solidFill>
                <a:latin typeface="Arial" pitchFamily="34" charset="0"/>
                <a:ea typeface="Arial" pitchFamily="34" charset="-122"/>
                <a:cs typeface="Arial" pitchFamily="34" charset="-120"/>
              </a:rPr>
              <a:t>Craig-Cox (1970)</a:t>
            </a:r>
          </a:p>
          <a:p>
            <a:pPr marL="285750" indent="-285750" algn="l">
              <a:spcAft>
                <a:spcPts val="600"/>
              </a:spcAft>
              <a:buFont typeface="Arial" panose="020B0604020202020204" pitchFamily="34" charset="0"/>
              <a:buChar char="•"/>
            </a:pPr>
            <a:r>
              <a:rPr lang="en-US" sz="1400" dirty="0" err="1">
                <a:solidFill>
                  <a:srgbClr val="111111"/>
                </a:solidFill>
                <a:latin typeface="Arial" pitchFamily="34" charset="0"/>
                <a:ea typeface="Arial" pitchFamily="34" charset="-122"/>
                <a:cs typeface="Arial" pitchFamily="34" charset="-120"/>
              </a:rPr>
              <a:t>Traupel</a:t>
            </a:r>
            <a:r>
              <a:rPr lang="en-US" sz="1400" dirty="0">
                <a:solidFill>
                  <a:srgbClr val="111111"/>
                </a:solidFill>
                <a:latin typeface="Arial" pitchFamily="34" charset="0"/>
                <a:ea typeface="Arial" pitchFamily="34" charset="-122"/>
                <a:cs typeface="Arial" pitchFamily="34" charset="-120"/>
              </a:rPr>
              <a:t> (1966)</a:t>
            </a:r>
          </a:p>
          <a:p>
            <a:pPr algn="l">
              <a:spcAft>
                <a:spcPts val="600"/>
              </a:spcAft>
            </a:pPr>
            <a:r>
              <a:rPr lang="en-US" sz="1400" dirty="0">
                <a:solidFill>
                  <a:srgbClr val="111111"/>
                </a:solidFill>
                <a:latin typeface="Arial" pitchFamily="34" charset="0"/>
                <a:ea typeface="Arial" pitchFamily="34" charset="-122"/>
                <a:cs typeface="Arial" pitchFamily="34" charset="-120"/>
              </a:rPr>
              <a:t>CSV datasets are open in the repository so anyone can refit or audit them. Craig-Cox handles incidence — the others can be extended the same way.</a:t>
            </a:r>
            <a:endParaRPr lang="en-US" sz="1400" dirty="0"/>
          </a:p>
        </p:txBody>
      </p:sp>
      <p:sp>
        <p:nvSpPr>
          <p:cNvPr id="7" name="Text 5"/>
          <p:cNvSpPr/>
          <p:nvPr/>
        </p:nvSpPr>
        <p:spPr>
          <a:xfrm>
            <a:off x="6355080" y="1828800"/>
            <a:ext cx="516636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Framework for ML-based loss</a:t>
            </a:r>
            <a:endParaRPr lang="en-US" sz="1800" dirty="0"/>
          </a:p>
        </p:txBody>
      </p:sp>
      <p:sp>
        <p:nvSpPr>
          <p:cNvPr id="8" name="Text 6"/>
          <p:cNvSpPr/>
          <p:nvPr/>
        </p:nvSpPr>
        <p:spPr>
          <a:xfrm>
            <a:off x="6355080" y="2331720"/>
            <a:ext cx="5166360" cy="228600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Common base class receives upstream + current row properties</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Any inference model (PyTorch, ONNX, scikit-learn) plugs in by inheriting it</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Designed for interpolation within the training space — extrapolation needs care</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Trained models on real engine data are deferred to a follow-up paper</a:t>
            </a:r>
            <a:endParaRPr lang="en-US" sz="1400" dirty="0"/>
          </a:p>
        </p:txBody>
      </p:sp>
      <p:sp>
        <p:nvSpPr>
          <p:cNvPr id="9" name="Shape 7"/>
          <p:cNvSpPr/>
          <p:nvPr/>
        </p:nvSpPr>
        <p:spPr>
          <a:xfrm>
            <a:off x="640080" y="4937760"/>
            <a:ext cx="10881360" cy="0"/>
          </a:xfrm>
          <a:prstGeom prst="line">
            <a:avLst/>
          </a:prstGeom>
          <a:noFill/>
          <a:ln w="6350">
            <a:solidFill>
              <a:srgbClr val="D1D5DB"/>
            </a:solidFill>
            <a:prstDash val="solid"/>
          </a:ln>
        </p:spPr>
        <p:txBody>
          <a:bodyPr/>
          <a:lstStyle/>
          <a:p>
            <a:endParaRPr lang="en-US"/>
          </a:p>
        </p:txBody>
      </p:sp>
      <p:sp>
        <p:nvSpPr>
          <p:cNvPr id="10" name="Text 8"/>
          <p:cNvSpPr/>
          <p:nvPr/>
        </p:nvSpPr>
        <p:spPr>
          <a:xfrm>
            <a:off x="640080" y="5166360"/>
            <a:ext cx="10881360" cy="731520"/>
          </a:xfrm>
          <a:prstGeom prst="rect">
            <a:avLst/>
          </a:prstGeom>
          <a:noFill/>
          <a:ln/>
        </p:spPr>
        <p:txBody>
          <a:bodyPr wrap="square" lIns="0" tIns="0" rIns="0" bIns="0" rtlCol="0" anchor="t"/>
          <a:lstStyle/>
          <a:p>
            <a:pPr marL="0" indent="0" algn="l">
              <a:buNone/>
            </a:pPr>
            <a:r>
              <a:rPr lang="en-US" sz="1600" b="0" dirty="0">
                <a:solidFill>
                  <a:srgbClr val="374151"/>
                </a:solidFill>
                <a:latin typeface="Arial" pitchFamily="34" charset="0"/>
                <a:ea typeface="Arial" pitchFamily="34" charset="-122"/>
                <a:cs typeface="Arial" pitchFamily="34" charset="-120"/>
              </a:rPr>
              <a:t>Legacy correlations and machine-learning models share the same base-class interface; substituting one for the other requires no changes to the solver.</a:t>
            </a:r>
            <a:endParaRPr lang="en-US" sz="1600" dirty="0"/>
          </a:p>
        </p:txBody>
      </p:sp>
      <p:sp>
        <p:nvSpPr>
          <p:cNvPr id="11" name="Shape 9"/>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2" name="Text 10"/>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06 · Loss Models</a:t>
            </a:r>
            <a:endParaRPr lang="en-US" sz="900" dirty="0"/>
          </a:p>
        </p:txBody>
      </p:sp>
      <p:sp>
        <p:nvSpPr>
          <p:cNvPr id="13" name="Text 11"/>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07 · EFFICIENCY</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Entropy-based efficiency for radial turbines</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5" name="Text 3"/>
          <p:cNvSpPr/>
          <p:nvPr/>
        </p:nvSpPr>
        <p:spPr>
          <a:xfrm>
            <a:off x="640080" y="1828800"/>
            <a:ext cx="1088136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The standard total-to-total formula misleads on radial machines — entropy gives a frame-independent answer.</a:t>
            </a:r>
            <a:endParaRPr lang="en-US" sz="1800" dirty="0"/>
          </a:p>
        </p:txBody>
      </p:sp>
      <p:sp>
        <p:nvSpPr>
          <p:cNvPr id="6" name="Text 4"/>
          <p:cNvSpPr/>
          <p:nvPr/>
        </p:nvSpPr>
        <p:spPr>
          <a:xfrm>
            <a:off x="640080" y="2377440"/>
            <a:ext cx="10881360" cy="1188720"/>
          </a:xfrm>
          <a:prstGeom prst="rect">
            <a:avLst/>
          </a:prstGeom>
          <a:noFill/>
          <a:ln/>
        </p:spPr>
        <p:txBody>
          <a:bodyPr wrap="square" lIns="0" tIns="0" rIns="0" bIns="0" rtlCol="0" anchor="t"/>
          <a:lstStyle/>
          <a:p>
            <a:pPr marL="0" indent="0" algn="l">
              <a:spcAft>
                <a:spcPts val="600"/>
              </a:spcAft>
              <a:buNone/>
            </a:pPr>
            <a:r>
              <a:rPr lang="en-US" sz="1400" dirty="0">
                <a:solidFill>
                  <a:srgbClr val="111111"/>
                </a:solidFill>
                <a:latin typeface="Arial" pitchFamily="34" charset="0"/>
                <a:ea typeface="Arial" pitchFamily="34" charset="-122"/>
                <a:cs typeface="Arial" pitchFamily="34" charset="-120"/>
              </a:rPr>
              <a:t>For radial turbines, absolute total-pressure ratio is dominated by centrifugal frame-change rather than aerodynamic loss, so the standard formula reports near-unity efficiency even with significant irreversibilities. Recasting through entropy generation isolates real losses:</a:t>
            </a:r>
            <a:endParaRPr lang="en-US" sz="1400" dirty="0"/>
          </a:p>
        </p:txBody>
      </p:sp>
      <p:sp>
        <p:nvSpPr>
          <p:cNvPr id="405" name="Eq 27 card"/>
          <p:cNvSpPr/>
          <p:nvPr/>
        </p:nvSpPr>
        <p:spPr>
          <a:xfrm>
            <a:off x="1800000" y="3700000"/>
            <a:ext cx="8500000" cy="2580000"/>
          </a:xfrm>
          <a:prstGeom prst="roundRect">
            <a:avLst>
              <a:gd name="adj" fmla="val 6000"/>
            </a:avLst>
          </a:prstGeom>
          <a:solidFill>
            <a:srgbClr val="F9FAFB"/>
          </a:solidFill>
          <a:ln w="6350">
            <a:solidFill>
              <a:srgbClr val="E5E7EB"/>
            </a:solidFill>
          </a:ln>
        </p:spPr>
        <p:txBody>
          <a:bodyPr/>
          <a:lstStyle/>
          <a:p>
            <a:endParaRPr lang="en-US"/>
          </a:p>
        </p:txBody>
      </p:sp>
      <p:sp>
        <p:nvSpPr>
          <p:cNvPr id="421" name="Eq 27 connector"/>
          <p:cNvSpPr/>
          <p:nvPr/>
        </p:nvSpPr>
        <p:spPr>
          <a:xfrm>
            <a:off x="1800000" y="4700000"/>
            <a:ext cx="8500000" cy="280000"/>
          </a:xfrm>
          <a:prstGeom prst="rect">
            <a:avLst/>
          </a:prstGeom>
          <a:noFill/>
        </p:spPr>
        <p:txBody>
          <a:bodyPr wrap="square" lIns="0" tIns="0" rIns="0" bIns="0" anchor="ctr"/>
          <a:lstStyle/>
          <a:p>
            <a:pPr algn="ctr">
              <a:buNone/>
            </a:pPr>
            <a:r>
              <a:rPr lang="en-US" sz="1200" i="1" dirty="0">
                <a:solidFill>
                  <a:srgbClr val="6B7280"/>
                </a:solidFill>
                <a:latin typeface="Arial"/>
              </a:rPr>
              <a:t>where w = </a:t>
            </a:r>
            <a:r>
              <a:rPr lang="en-US" sz="1200" i="1" dirty="0" err="1">
                <a:solidFill>
                  <a:srgbClr val="6B7280"/>
                </a:solidFill>
                <a:latin typeface="Arial"/>
              </a:rPr>
              <a:t>c</a:t>
            </a:r>
            <a:r>
              <a:rPr lang="en-US" sz="1200" i="1" baseline="-25000" dirty="0" err="1">
                <a:solidFill>
                  <a:srgbClr val="6B7280"/>
                </a:solidFill>
                <a:latin typeface="Arial"/>
              </a:rPr>
              <a:t>P</a:t>
            </a:r>
            <a:r>
              <a:rPr lang="en-US" sz="1200" i="1" dirty="0">
                <a:solidFill>
                  <a:srgbClr val="6B7280"/>
                </a:solidFill>
                <a:latin typeface="Arial"/>
              </a:rPr>
              <a:t> (T</a:t>
            </a:r>
            <a:r>
              <a:rPr lang="en-US" sz="1200" i="1" baseline="-25000" dirty="0">
                <a:solidFill>
                  <a:srgbClr val="6B7280"/>
                </a:solidFill>
                <a:latin typeface="Arial"/>
              </a:rPr>
              <a:t>01</a:t>
            </a:r>
            <a:r>
              <a:rPr lang="en-US" sz="1200" i="1" dirty="0">
                <a:solidFill>
                  <a:srgbClr val="6B7280"/>
                </a:solidFill>
                <a:latin typeface="Arial"/>
              </a:rPr>
              <a:t> − T</a:t>
            </a:r>
            <a:r>
              <a:rPr lang="en-US" sz="1200" i="1" baseline="-25000" dirty="0">
                <a:solidFill>
                  <a:srgbClr val="6B7280"/>
                </a:solidFill>
                <a:latin typeface="Arial"/>
              </a:rPr>
              <a:t>02</a:t>
            </a:r>
            <a:r>
              <a:rPr lang="en-US" sz="1200" i="1" dirty="0">
                <a:solidFill>
                  <a:srgbClr val="6B7280"/>
                </a:solidFill>
                <a:latin typeface="Arial"/>
              </a:rPr>
              <a:t>) and entropy generation reduces to:</a:t>
            </a:r>
          </a:p>
        </p:txBody>
      </p:sp>
      <p:sp>
        <p:nvSpPr>
          <p:cNvPr id="423" name="Eq 27c note"/>
          <p:cNvSpPr/>
          <p:nvPr/>
        </p:nvSpPr>
        <p:spPr>
          <a:xfrm>
            <a:off x="1800000" y="5950000"/>
            <a:ext cx="8500000" cy="280000"/>
          </a:xfrm>
          <a:prstGeom prst="rect">
            <a:avLst/>
          </a:prstGeom>
          <a:noFill/>
        </p:spPr>
        <p:txBody>
          <a:bodyPr wrap="square" lIns="0" tIns="0" rIns="0" bIns="0" anchor="ctr"/>
          <a:lstStyle/>
          <a:p>
            <a:pPr algn="ctr">
              <a:buNone/>
            </a:pPr>
            <a:r>
              <a:rPr lang="en-US" sz="1200" i="1" dirty="0">
                <a:solidFill>
                  <a:srgbClr val="6B7280"/>
                </a:solidFill>
                <a:latin typeface="Arial"/>
              </a:rPr>
              <a:t>P</a:t>
            </a:r>
            <a:r>
              <a:rPr lang="en-US" sz="1200" i="1" baseline="-25000" dirty="0">
                <a:solidFill>
                  <a:srgbClr val="6B7280"/>
                </a:solidFill>
                <a:latin typeface="Arial"/>
              </a:rPr>
              <a:t>0R</a:t>
            </a:r>
            <a:r>
              <a:rPr lang="en-US" sz="1200" i="1" dirty="0">
                <a:solidFill>
                  <a:srgbClr val="6B7280"/>
                </a:solidFill>
                <a:latin typeface="Arial"/>
              </a:rPr>
              <a:t> is the relative total pressure — only irreversibilities reduce it.</a:t>
            </a:r>
          </a:p>
        </p:txBody>
      </p:sp>
      <p:sp>
        <p:nvSpPr>
          <p:cNvPr id="406" name="Eq 27b num"/>
          <p:cNvSpPr/>
          <p:nvPr/>
        </p:nvSpPr>
        <p:spPr>
          <a:xfrm>
            <a:off x="9760000" y="4105000"/>
            <a:ext cx="500000" cy="250000"/>
          </a:xfrm>
          <a:prstGeom prst="rect">
            <a:avLst/>
          </a:prstGeom>
          <a:noFill/>
        </p:spPr>
        <p:txBody>
          <a:bodyPr wrap="square" lIns="0" tIns="0" rIns="0" bIns="0" anchor="ctr"/>
          <a:lstStyle/>
          <a:p>
            <a:pPr algn="r">
              <a:buNone/>
            </a:pPr>
            <a:r>
              <a:rPr lang="en-US" sz="1100" i="1">
                <a:solidFill>
                  <a:srgbClr val="6B7280"/>
                </a:solidFill>
                <a:latin typeface="Arial"/>
              </a:rPr>
              <a:t>(27b)</a:t>
            </a:r>
          </a:p>
        </p:txBody>
      </p:sp>
      <p:sp>
        <p:nvSpPr>
          <p:cNvPr id="407" name="Eq 27c num"/>
          <p:cNvSpPr/>
          <p:nvPr/>
        </p:nvSpPr>
        <p:spPr>
          <a:xfrm>
            <a:off x="9760000" y="5335000"/>
            <a:ext cx="500000" cy="250000"/>
          </a:xfrm>
          <a:prstGeom prst="rect">
            <a:avLst/>
          </a:prstGeom>
          <a:noFill/>
        </p:spPr>
        <p:txBody>
          <a:bodyPr wrap="square" lIns="0" tIns="0" rIns="0" bIns="0" anchor="ctr"/>
          <a:lstStyle/>
          <a:p>
            <a:pPr algn="r">
              <a:buNone/>
            </a:pPr>
            <a:r>
              <a:rPr lang="en-US" sz="1100" i="1">
                <a:solidFill>
                  <a:srgbClr val="6B7280"/>
                </a:solidFill>
                <a:latin typeface="Arial"/>
              </a:rPr>
              <a:t>(27c)</a:t>
            </a:r>
          </a:p>
        </p:txBody>
      </p:sp>
      <p:sp>
        <p:nvSpPr>
          <p:cNvPr id="8" name="Shape 6"/>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9" name="Text 7"/>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07 · Entropy Efficiency</a:t>
            </a:r>
            <a:endParaRPr lang="en-US" sz="900" dirty="0"/>
          </a:p>
        </p:txBody>
      </p:sp>
      <p:sp>
        <p:nvSpPr>
          <p:cNvPr id="10" name="Text 8"/>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08</a:t>
            </a:r>
            <a:endParaRPr lang="en-US" sz="9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5516EB-7142-5E3B-31F5-D8454431002F}"/>
                  </a:ext>
                </a:extLst>
              </p:cNvPr>
              <p:cNvSpPr txBox="1"/>
              <p:nvPr/>
            </p:nvSpPr>
            <p:spPr>
              <a:xfrm>
                <a:off x="5137571" y="3845715"/>
                <a:ext cx="2179956" cy="690445"/>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𝜂</m:t>
                          </m:r>
                        </m:e>
                        <m:sub>
                          <m:r>
                            <a:rPr lang="en-US" sz="2400" b="0" i="1" smtClean="0">
                              <a:latin typeface="Cambria Math" panose="02040503050406030204" pitchFamily="18" charset="0"/>
                            </a:rPr>
                            <m:t>𝑇𝑇</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𝑤</m:t>
                          </m:r>
                        </m:num>
                        <m:den>
                          <m:r>
                            <a:rPr lang="en-US" sz="2400" b="0" i="1" smtClean="0">
                              <a:latin typeface="Cambria Math" panose="02040503050406030204" pitchFamily="18" charset="0"/>
                            </a:rPr>
                            <m:t>𝑤</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2</m:t>
                              </m:r>
                            </m:sub>
                          </m:sSub>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𝑠</m:t>
                          </m:r>
                        </m:den>
                      </m:f>
                    </m:oMath>
                  </m:oMathPara>
                </a14:m>
                <a:endParaRPr lang="en-US" sz="2400" dirty="0"/>
              </a:p>
            </p:txBody>
          </p:sp>
        </mc:Choice>
        <mc:Fallback xmlns="">
          <p:sp>
            <p:nvSpPr>
              <p:cNvPr id="7" name="TextBox 6">
                <a:extLst>
                  <a:ext uri="{FF2B5EF4-FFF2-40B4-BE49-F238E27FC236}">
                    <a16:creationId xmlns:a16="http://schemas.microsoft.com/office/drawing/2014/main" id="{7D5516EB-7142-5E3B-31F5-D8454431002F}"/>
                  </a:ext>
                </a:extLst>
              </p:cNvPr>
              <p:cNvSpPr txBox="1">
                <a:spLocks noRot="1" noChangeAspect="1" noMove="1" noResize="1" noEditPoints="1" noAdjustHandles="1" noChangeArrowheads="1" noChangeShapeType="1" noTextEdit="1"/>
              </p:cNvSpPr>
              <p:nvPr/>
            </p:nvSpPr>
            <p:spPr>
              <a:xfrm>
                <a:off x="5137571" y="3845715"/>
                <a:ext cx="2179956" cy="690445"/>
              </a:xfrm>
              <a:prstGeom prst="rect">
                <a:avLst/>
              </a:prstGeom>
              <a:blipFill>
                <a:blip r:embed="rId2"/>
                <a:stretch>
                  <a:fillRect l="-2326" r="-1163"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3E5771-42C4-ED52-D0E0-0C3A131C15F6}"/>
                  </a:ext>
                </a:extLst>
              </p:cNvPr>
              <p:cNvSpPr txBox="1"/>
              <p:nvPr/>
            </p:nvSpPr>
            <p:spPr>
              <a:xfrm>
                <a:off x="4936747" y="5091238"/>
                <a:ext cx="2581604" cy="82984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𝑅𝑙𝑛</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0</m:t>
                                  </m:r>
                                  <m:r>
                                    <a:rPr lang="en-US" sz="2400" b="0" i="1" smtClean="0">
                                      <a:latin typeface="Cambria Math" panose="02040503050406030204" pitchFamily="18" charset="0"/>
                                    </a:rPr>
                                    <m:t>𝑅</m:t>
                                  </m:r>
                                  <m:r>
                                    <a:rPr lang="en-US" sz="2400" b="0" i="1" smtClean="0">
                                      <a:latin typeface="Cambria Math" panose="02040503050406030204" pitchFamily="18" charset="0"/>
                                    </a:rPr>
                                    <m:t>,</m:t>
                                  </m:r>
                                  <m:r>
                                    <a:rPr lang="en-US" sz="2400" b="0" i="1" smtClean="0">
                                      <a:latin typeface="Cambria Math" panose="02040503050406030204" pitchFamily="18" charset="0"/>
                                    </a:rPr>
                                    <m:t>𝑖𝑛</m:t>
                                  </m:r>
                                </m:sub>
                              </m:sSub>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0</m:t>
                                  </m:r>
                                  <m:r>
                                    <a:rPr lang="en-US" sz="2400" b="0" i="1" smtClean="0">
                                      <a:latin typeface="Cambria Math" panose="02040503050406030204" pitchFamily="18" charset="0"/>
                                    </a:rPr>
                                    <m:t>𝑅</m:t>
                                  </m:r>
                                  <m:r>
                                    <a:rPr lang="en-US" sz="2400" b="0" i="1" smtClean="0">
                                      <a:latin typeface="Cambria Math" panose="02040503050406030204" pitchFamily="18" charset="0"/>
                                    </a:rPr>
                                    <m:t>,</m:t>
                                  </m:r>
                                  <m:r>
                                    <a:rPr lang="en-US" sz="2400" b="0" i="1" smtClean="0">
                                      <a:latin typeface="Cambria Math" panose="02040503050406030204" pitchFamily="18" charset="0"/>
                                    </a:rPr>
                                    <m:t>𝑜𝑢𝑡</m:t>
                                  </m:r>
                                </m:sub>
                              </m:sSub>
                            </m:den>
                          </m:f>
                        </m:e>
                      </m:d>
                    </m:oMath>
                  </m:oMathPara>
                </a14:m>
                <a:endParaRPr lang="en-US" sz="2400" dirty="0"/>
              </a:p>
            </p:txBody>
          </p:sp>
        </mc:Choice>
        <mc:Fallback xmlns="">
          <p:sp>
            <p:nvSpPr>
              <p:cNvPr id="11" name="TextBox 10">
                <a:extLst>
                  <a:ext uri="{FF2B5EF4-FFF2-40B4-BE49-F238E27FC236}">
                    <a16:creationId xmlns:a16="http://schemas.microsoft.com/office/drawing/2014/main" id="{AD3E5771-42C4-ED52-D0E0-0C3A131C15F6}"/>
                  </a:ext>
                </a:extLst>
              </p:cNvPr>
              <p:cNvSpPr txBox="1">
                <a:spLocks noRot="1" noChangeAspect="1" noMove="1" noResize="1" noEditPoints="1" noAdjustHandles="1" noChangeArrowheads="1" noChangeShapeType="1" noTextEdit="1"/>
              </p:cNvSpPr>
              <p:nvPr/>
            </p:nvSpPr>
            <p:spPr>
              <a:xfrm>
                <a:off x="4936747" y="5091238"/>
                <a:ext cx="2581604" cy="829843"/>
              </a:xfrm>
              <a:prstGeom prst="rect">
                <a:avLst/>
              </a:prstGeom>
              <a:blipFill>
                <a:blip r:embed="rId3"/>
                <a:stretch>
                  <a:fillRect l="-1961" b="-2985"/>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8D6E8D88-3213-A515-0070-DD5DF98BAA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 y="3229916"/>
            <a:ext cx="2580000" cy="258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08 · VALIDATION 1</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EEE 2-stage high-pressure turbine</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5" name="Shape 3"/>
          <p:cNvSpPr/>
          <p:nvPr/>
        </p:nvSpPr>
        <p:spPr>
          <a:xfrm>
            <a:off x="640080" y="1783080"/>
            <a:ext cx="6583680" cy="4114800"/>
          </a:xfrm>
          <a:prstGeom prst="rect">
            <a:avLst/>
          </a:prstGeom>
          <a:solidFill>
            <a:srgbClr val="F3F4F6"/>
          </a:solidFill>
          <a:ln w="6350">
            <a:solidFill>
              <a:srgbClr val="D1D5DB"/>
            </a:solidFill>
            <a:prstDash val="solid"/>
          </a:ln>
        </p:spPr>
        <p:txBody>
          <a:bodyPr/>
          <a:lstStyle/>
          <a:p>
            <a:endParaRPr lang="en-US"/>
          </a:p>
        </p:txBody>
      </p:sp>
      <p:pic>
        <p:nvPicPr>
          <p:cNvPr id="500" name="EEE Schematic"/>
          <p:cNvPicPr>
            <a:picLocks noChangeAspect="1"/>
          </p:cNvPicPr>
          <p:nvPr/>
        </p:nvPicPr>
        <p:blipFill>
          <a:blip r:embed="rId2"/>
          <a:stretch>
            <a:fillRect/>
          </a:stretch>
        </p:blipFill>
        <p:spPr>
          <a:xfrm>
            <a:off x="1302079" y="1883080"/>
            <a:ext cx="5259680" cy="3914800"/>
          </a:xfrm>
          <a:prstGeom prst="rect">
            <a:avLst/>
          </a:prstGeom>
        </p:spPr>
      </p:pic>
      <p:sp>
        <p:nvSpPr>
          <p:cNvPr id="7" name="Text 5"/>
          <p:cNvSpPr/>
          <p:nvPr/>
        </p:nvSpPr>
        <p:spPr>
          <a:xfrm>
            <a:off x="640080" y="5989320"/>
            <a:ext cx="6583680" cy="365760"/>
          </a:xfrm>
          <a:prstGeom prst="rect">
            <a:avLst/>
          </a:prstGeom>
          <a:noFill/>
          <a:ln/>
        </p:spPr>
        <p:txBody>
          <a:bodyPr wrap="square" lIns="0" tIns="0" rIns="0" bIns="0" rtlCol="0" anchor="t"/>
          <a:lstStyle/>
          <a:p>
            <a:pPr marL="0" indent="0" algn="l">
              <a:buNone/>
            </a:pPr>
            <a:r>
              <a:rPr lang="en-US" sz="1200" i="1" dirty="0">
                <a:solidFill>
                  <a:srgbClr val="6B7280"/>
                </a:solidFill>
                <a:latin typeface="Arial" pitchFamily="34" charset="0"/>
                <a:ea typeface="Arial" pitchFamily="34" charset="-122"/>
                <a:cs typeface="Arial" pitchFamily="34" charset="-120"/>
              </a:rPr>
              <a:t>NASA / GE Energy Efficient Engine 2-stage HPT — meridional view: hub, shroud and blade rows (paper Fig. 8). Full-scale warm-air test measured 90.0 % efficiency.</a:t>
            </a:r>
            <a:endParaRPr lang="en-US" sz="1200" dirty="0"/>
          </a:p>
        </p:txBody>
      </p:sp>
      <p:sp>
        <p:nvSpPr>
          <p:cNvPr id="8" name="Text 6"/>
          <p:cNvSpPr/>
          <p:nvPr/>
        </p:nvSpPr>
        <p:spPr>
          <a:xfrm>
            <a:off x="7680960" y="1783080"/>
            <a:ext cx="384048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Boundary conditions</a:t>
            </a:r>
            <a:endParaRPr lang="en-US" sz="1800" dirty="0"/>
          </a:p>
        </p:txBody>
      </p:sp>
      <p:sp>
        <p:nvSpPr>
          <p:cNvPr id="9" name="Text 7"/>
          <p:cNvSpPr/>
          <p:nvPr/>
        </p:nvSpPr>
        <p:spPr>
          <a:xfrm>
            <a:off x="7680960" y="2286000"/>
            <a:ext cx="3840480" cy="3200400"/>
          </a:xfrm>
          <a:prstGeom prst="rect">
            <a:avLst/>
          </a:prstGeom>
          <a:noFill/>
          <a:ln/>
        </p:spPr>
        <p:txBody>
          <a:bodyPr wrap="square" lIns="0" tIns="0" rIns="0" bIns="0" rtlCol="0" anchor="t"/>
          <a:lstStyle/>
          <a:p>
            <a:pPr marL="0" indent="0" algn="l">
              <a:lnSpc>
                <a:spcPct val="118000"/>
              </a:lnSpc>
              <a:spcAft>
                <a:spcPts val="600"/>
              </a:spcAft>
              <a:buNone/>
            </a:pPr>
            <a:r>
              <a:rPr lang="en-US" sz="1400" dirty="0">
                <a:solidFill>
                  <a:srgbClr val="111111"/>
                </a:solidFill>
                <a:latin typeface="Arial" pitchFamily="34" charset="0"/>
                <a:ea typeface="Arial" pitchFamily="34" charset="-122"/>
                <a:cs typeface="Arial" pitchFamily="34" charset="-120"/>
              </a:rPr>
              <a:t>Inlet:  P₀ = 12.57 bar,  T₀ = 1587 K,  M = 0.2
Exit:  Pₛ = 2.30 bar
Rotors: 12400 RPM
Fluid: air, variable cₚ and γ</a:t>
            </a:r>
          </a:p>
          <a:p>
            <a:pPr marL="0" indent="0" algn="l">
              <a:spcBef>
                <a:spcPts val="1400"/>
              </a:spcBef>
              <a:buNone/>
            </a:pPr>
            <a:r>
              <a:rPr lang="en-US" sz="1400" b="1" dirty="0">
                <a:solidFill>
                  <a:srgbClr val="111111"/>
                </a:solidFill>
                <a:latin typeface="Arial" pitchFamily="34" charset="0"/>
                <a:ea typeface="Arial" pitchFamily="34" charset="-122"/>
                <a:cs typeface="Arial" pitchFamily="34" charset="-120"/>
              </a:rPr>
              <a:t>CFD reference</a:t>
            </a:r>
          </a:p>
          <a:p>
            <a:pPr marL="0" indent="0" algn="l">
              <a:lnSpc>
                <a:spcPct val="118000"/>
              </a:lnSpc>
              <a:buNone/>
            </a:pPr>
            <a:r>
              <a:rPr lang="en-US" sz="1400" dirty="0">
                <a:solidFill>
                  <a:srgbClr val="111111"/>
                </a:solidFill>
                <a:latin typeface="Arial" pitchFamily="34" charset="0"/>
                <a:ea typeface="Arial" pitchFamily="34" charset="-122"/>
                <a:cs typeface="Arial" pitchFamily="34" charset="-120"/>
              </a:rPr>
              <a:t>ADS solver, Wilcox k–ω, y⁺ &lt; 1, adiabatic walls, 30k iterations to convergence.</a:t>
            </a:r>
            <a:endParaRPr lang="en-US" sz="1400" dirty="0"/>
          </a:p>
        </p:txBody>
      </p:sp>
      <p:sp>
        <p:nvSpPr>
          <p:cNvPr id="10" name="Shape 8"/>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1" name="Text 9"/>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08 · Validation 1 — EEE</a:t>
            </a:r>
            <a:endParaRPr lang="en-US" sz="900" dirty="0"/>
          </a:p>
        </p:txBody>
      </p:sp>
      <p:sp>
        <p:nvSpPr>
          <p:cNvPr id="12" name="Text 10"/>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09</a:t>
            </a:r>
            <a:endParaRPr lang="en-US" sz="900" dirty="0"/>
          </a:p>
        </p:txBody>
      </p:sp>
      <p:pic>
        <p:nvPicPr>
          <p:cNvPr id="1026" name="Picture 2">
            <a:extLst>
              <a:ext uri="{FF2B5EF4-FFF2-40B4-BE49-F238E27FC236}">
                <a16:creationId xmlns:a16="http://schemas.microsoft.com/office/drawing/2014/main" id="{2F6A3592-49B3-6A3A-0EBA-0D4364322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9535" y="4897130"/>
            <a:ext cx="1457950" cy="14579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ACBB4CB-A1B7-A596-A8CE-3B7DCB1BB83B}"/>
              </a:ext>
            </a:extLst>
          </p:cNvPr>
          <p:cNvSpPr txBox="1"/>
          <p:nvPr/>
        </p:nvSpPr>
        <p:spPr>
          <a:xfrm>
            <a:off x="9010352" y="4621025"/>
            <a:ext cx="1467133" cy="369332"/>
          </a:xfrm>
          <a:prstGeom prst="rect">
            <a:avLst/>
          </a:prstGeom>
          <a:noFill/>
        </p:spPr>
        <p:txBody>
          <a:bodyPr wrap="none" rtlCol="0">
            <a:spAutoFit/>
          </a:bodyPr>
          <a:lstStyle/>
          <a:p>
            <a:r>
              <a:rPr lang="en-US" dirty="0"/>
              <a:t>EEE Tutorial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09 · EEE RESULTS</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EEE — Turbo-Design vs CFD</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15" name="Shape 13"/>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6" name="Text 14"/>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09 · EEE Results</a:t>
            </a:r>
            <a:endParaRPr lang="en-US" sz="900" dirty="0"/>
          </a:p>
        </p:txBody>
      </p:sp>
      <p:sp>
        <p:nvSpPr>
          <p:cNvPr id="17" name="Text 15"/>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10</a:t>
            </a:r>
            <a:endParaRPr lang="en-US" sz="900" dirty="0"/>
          </a:p>
        </p:txBody>
      </p:sp>
      <p:graphicFrame>
        <p:nvGraphicFramePr>
          <p:cNvPr id="500" name="EEE Comparison Table"/>
          <p:cNvGraphicFramePr/>
          <p:nvPr>
            <p:extLst>
              <p:ext uri="{D42A27DB-BD31-4B8C-83A1-F6EECF244321}">
                <p14:modId xmlns:p14="http://schemas.microsoft.com/office/powerpoint/2010/main" val="2413715364"/>
              </p:ext>
            </p:extLst>
          </p:nvPr>
        </p:nvGraphicFramePr>
        <p:xfrm>
          <a:off x="640080" y="1860000"/>
          <a:ext cx="10881360" cy="3730000"/>
        </p:xfrm>
        <a:graphic>
          <a:graphicData uri="http://schemas.openxmlformats.org/drawingml/2006/table">
            <a:tbl>
              <a:tblPr firstRow="1">
                <a:tableStyleId>{5C22544A-7EE6-4342-B048-85BDC9FD1C3A}</a:tableStyleId>
              </a:tblPr>
              <a:tblGrid>
                <a:gridCol w="3000000">
                  <a:extLst>
                    <a:ext uri="{9D8B030D-6E8A-4147-A177-3AD203B41FA5}">
                      <a16:colId xmlns:a16="http://schemas.microsoft.com/office/drawing/2014/main" val="20000"/>
                    </a:ext>
                  </a:extLst>
                </a:gridCol>
                <a:gridCol w="2300000">
                  <a:extLst>
                    <a:ext uri="{9D8B030D-6E8A-4147-A177-3AD203B41FA5}">
                      <a16:colId xmlns:a16="http://schemas.microsoft.com/office/drawing/2014/main" val="20001"/>
                    </a:ext>
                  </a:extLst>
                </a:gridCol>
                <a:gridCol w="2790680">
                  <a:extLst>
                    <a:ext uri="{9D8B030D-6E8A-4147-A177-3AD203B41FA5}">
                      <a16:colId xmlns:a16="http://schemas.microsoft.com/office/drawing/2014/main" val="20002"/>
                    </a:ext>
                  </a:extLst>
                </a:gridCol>
                <a:gridCol w="2790680">
                  <a:extLst>
                    <a:ext uri="{9D8B030D-6E8A-4147-A177-3AD203B41FA5}">
                      <a16:colId xmlns:a16="http://schemas.microsoft.com/office/drawing/2014/main" val="20003"/>
                    </a:ext>
                  </a:extLst>
                </a:gridCol>
              </a:tblGrid>
              <a:tr h="400000">
                <a:tc>
                  <a:txBody>
                    <a:bodyPr/>
                    <a:lstStyle/>
                    <a:p>
                      <a:pPr algn="l"/>
                      <a:r>
                        <a:rPr lang="en-US" sz="1400" b="1">
                          <a:solidFill>
                            <a:srgbClr val="111827"/>
                          </a:solidFill>
                          <a:latin typeface="Arial"/>
                        </a:rPr>
                        <a:t>Quantity</a:t>
                      </a:r>
                    </a:p>
                  </a:txBody>
                  <a:tcPr anchor="ctr">
                    <a:solidFill>
                      <a:srgbClr val="F3F4F6"/>
                    </a:solidFill>
                  </a:tcPr>
                </a:tc>
                <a:tc>
                  <a:txBody>
                    <a:bodyPr/>
                    <a:lstStyle/>
                    <a:p>
                      <a:pPr algn="l"/>
                      <a:r>
                        <a:rPr lang="en-US" sz="1400" b="1">
                          <a:solidFill>
                            <a:srgbClr val="111827"/>
                          </a:solidFill>
                          <a:latin typeface="Arial"/>
                        </a:rPr>
                        <a:t>Source</a:t>
                      </a:r>
                    </a:p>
                  </a:txBody>
                  <a:tcPr anchor="ctr">
                    <a:solidFill>
                      <a:srgbClr val="F3F4F6"/>
                    </a:solidFill>
                  </a:tcPr>
                </a:tc>
                <a:tc>
                  <a:txBody>
                    <a:bodyPr/>
                    <a:lstStyle/>
                    <a:p>
                      <a:pPr algn="ctr"/>
                      <a:r>
                        <a:rPr lang="en-US" sz="1400" b="1">
                          <a:solidFill>
                            <a:srgbClr val="111827"/>
                          </a:solidFill>
                          <a:latin typeface="Arial"/>
                        </a:rPr>
                        <a:t>Stage 1</a:t>
                      </a:r>
                    </a:p>
                  </a:txBody>
                  <a:tcPr anchor="ctr">
                    <a:solidFill>
                      <a:srgbClr val="F3F4F6"/>
                    </a:solidFill>
                  </a:tcPr>
                </a:tc>
                <a:tc>
                  <a:txBody>
                    <a:bodyPr/>
                    <a:lstStyle/>
                    <a:p>
                      <a:pPr algn="ctr"/>
                      <a:r>
                        <a:rPr lang="en-US" sz="1400" b="1">
                          <a:solidFill>
                            <a:srgbClr val="111827"/>
                          </a:solidFill>
                          <a:latin typeface="Arial"/>
                        </a:rPr>
                        <a:t>Stage 2</a:t>
                      </a:r>
                    </a:p>
                  </a:txBody>
                  <a:tcPr anchor="ctr">
                    <a:solidFill>
                      <a:srgbClr val="F3F4F6"/>
                    </a:solidFill>
                  </a:tcPr>
                </a:tc>
                <a:extLst>
                  <a:ext uri="{0D108BD9-81ED-4DB2-BD59-A6C34878D82A}">
                    <a16:rowId xmlns:a16="http://schemas.microsoft.com/office/drawing/2014/main" val="10000"/>
                  </a:ext>
                </a:extLst>
              </a:tr>
              <a:tr h="370000">
                <a:tc>
                  <a:txBody>
                    <a:bodyPr/>
                    <a:lstStyle/>
                    <a:p>
                      <a:pPr algn="l"/>
                      <a:r>
                        <a:rPr lang="en-US" sz="1400" b="1">
                          <a:solidFill>
                            <a:srgbClr val="111827"/>
                          </a:solidFill>
                          <a:latin typeface="Arial"/>
                        </a:rPr>
                        <a:t>Efficiency  η</a:t>
                      </a:r>
                    </a:p>
                  </a:txBody>
                  <a:tcPr anchor="ctr">
                    <a:noFill/>
                  </a:tcPr>
                </a:tc>
                <a:tc>
                  <a:txBody>
                    <a:bodyPr/>
                    <a:lstStyle/>
                    <a:p>
                      <a:pPr algn="l"/>
                      <a:r>
                        <a:rPr lang="en-US" sz="1400">
                          <a:solidFill>
                            <a:srgbClr val="111827"/>
                          </a:solidFill>
                          <a:latin typeface="Arial"/>
                        </a:rPr>
                        <a:t>CFD</a:t>
                      </a:r>
                    </a:p>
                  </a:txBody>
                  <a:tcPr anchor="ctr">
                    <a:noFill/>
                  </a:tcPr>
                </a:tc>
                <a:tc>
                  <a:txBody>
                    <a:bodyPr/>
                    <a:lstStyle/>
                    <a:p>
                      <a:pPr algn="ctr"/>
                      <a:r>
                        <a:rPr lang="en-US" sz="1400" dirty="0">
                          <a:solidFill>
                            <a:srgbClr val="111827"/>
                          </a:solidFill>
                          <a:latin typeface="Arial"/>
                        </a:rPr>
                        <a:t>0.962</a:t>
                      </a:r>
                    </a:p>
                  </a:txBody>
                  <a:tcPr anchor="ctr">
                    <a:noFill/>
                  </a:tcPr>
                </a:tc>
                <a:tc>
                  <a:txBody>
                    <a:bodyPr/>
                    <a:lstStyle/>
                    <a:p>
                      <a:pPr algn="ctr"/>
                      <a:r>
                        <a:rPr lang="en-US" sz="1400">
                          <a:solidFill>
                            <a:srgbClr val="111827"/>
                          </a:solidFill>
                          <a:latin typeface="Arial"/>
                        </a:rPr>
                        <a:t>0.970</a:t>
                      </a:r>
                    </a:p>
                  </a:txBody>
                  <a:tcPr anchor="ctr">
                    <a:noFill/>
                  </a:tcPr>
                </a:tc>
                <a:extLst>
                  <a:ext uri="{0D108BD9-81ED-4DB2-BD59-A6C34878D82A}">
                    <a16:rowId xmlns:a16="http://schemas.microsoft.com/office/drawing/2014/main" val="10001"/>
                  </a:ext>
                </a:extLst>
              </a:tr>
              <a:tr h="370000">
                <a:tc>
                  <a:txBody>
                    <a:bodyPr/>
                    <a:lstStyle/>
                    <a:p>
                      <a:pPr algn="l"/>
                      <a:endParaRPr/>
                    </a:p>
                  </a:txBody>
                  <a:tcPr anchor="ctr">
                    <a:noFill/>
                  </a:tcPr>
                </a:tc>
                <a:tc>
                  <a:txBody>
                    <a:bodyPr/>
                    <a:lstStyle/>
                    <a:p>
                      <a:pPr algn="l"/>
                      <a:r>
                        <a:rPr lang="en-US" sz="1400">
                          <a:solidFill>
                            <a:srgbClr val="111827"/>
                          </a:solidFill>
                          <a:latin typeface="Arial"/>
                        </a:rPr>
                        <a:t>Turbo-Design</a:t>
                      </a:r>
                    </a:p>
                  </a:txBody>
                  <a:tcPr anchor="ctr">
                    <a:noFill/>
                  </a:tcPr>
                </a:tc>
                <a:tc>
                  <a:txBody>
                    <a:bodyPr/>
                    <a:lstStyle/>
                    <a:p>
                      <a:pPr algn="ctr"/>
                      <a:r>
                        <a:rPr lang="en-US" sz="1400" dirty="0">
                          <a:solidFill>
                            <a:schemeClr val="tx1"/>
                          </a:solidFill>
                          <a:latin typeface="Arial"/>
                        </a:rPr>
                        <a:t>0.955</a:t>
                      </a:r>
                    </a:p>
                  </a:txBody>
                  <a:tcPr anchor="ctr">
                    <a:noFill/>
                  </a:tcPr>
                </a:tc>
                <a:tc>
                  <a:txBody>
                    <a:bodyPr/>
                    <a:lstStyle/>
                    <a:p>
                      <a:pPr algn="ctr"/>
                      <a:r>
                        <a:rPr lang="en-US" sz="1400">
                          <a:solidFill>
                            <a:srgbClr val="111827"/>
                          </a:solidFill>
                          <a:latin typeface="Arial"/>
                        </a:rPr>
                        <a:t>0.986</a:t>
                      </a:r>
                    </a:p>
                  </a:txBody>
                  <a:tcPr anchor="ctr">
                    <a:noFill/>
                  </a:tcPr>
                </a:tc>
                <a:extLst>
                  <a:ext uri="{0D108BD9-81ED-4DB2-BD59-A6C34878D82A}">
                    <a16:rowId xmlns:a16="http://schemas.microsoft.com/office/drawing/2014/main" val="10002"/>
                  </a:ext>
                </a:extLst>
              </a:tr>
              <a:tr h="370000">
                <a:tc>
                  <a:txBody>
                    <a:bodyPr/>
                    <a:lstStyle/>
                    <a:p>
                      <a:pPr algn="l"/>
                      <a:endParaRPr/>
                    </a:p>
                  </a:txBody>
                  <a:tcPr anchor="ctr">
                    <a:noFill/>
                  </a:tcPr>
                </a:tc>
                <a:tc>
                  <a:txBody>
                    <a:bodyPr/>
                    <a:lstStyle/>
                    <a:p>
                      <a:pPr algn="l"/>
                      <a:r>
                        <a:rPr lang="en-US" sz="1400">
                          <a:solidFill>
                            <a:srgbClr val="6B7280"/>
                          </a:solidFill>
                          <a:latin typeface="Arial"/>
                        </a:rPr>
                        <a:t>Error</a:t>
                      </a:r>
                    </a:p>
                  </a:txBody>
                  <a:tcPr anchor="ctr">
                    <a:noFill/>
                  </a:tcPr>
                </a:tc>
                <a:tc>
                  <a:txBody>
                    <a:bodyPr/>
                    <a:lstStyle/>
                    <a:p>
                      <a:pPr algn="ctr"/>
                      <a:r>
                        <a:rPr lang="en-US" sz="1400" dirty="0">
                          <a:solidFill>
                            <a:schemeClr val="accent5"/>
                          </a:solidFill>
                          <a:latin typeface="Arial"/>
                        </a:rPr>
                        <a:t>0.7 %</a:t>
                      </a:r>
                    </a:p>
                  </a:txBody>
                  <a:tcPr anchor="ctr">
                    <a:noFill/>
                  </a:tcPr>
                </a:tc>
                <a:tc>
                  <a:txBody>
                    <a:bodyPr/>
                    <a:lstStyle/>
                    <a:p>
                      <a:pPr algn="ctr"/>
                      <a:r>
                        <a:rPr lang="en-US" sz="1400" dirty="0">
                          <a:solidFill>
                            <a:schemeClr val="accent5"/>
                          </a:solidFill>
                          <a:latin typeface="Arial"/>
                        </a:rPr>
                        <a:t>1.65 %</a:t>
                      </a:r>
                    </a:p>
                  </a:txBody>
                  <a:tcPr anchor="ctr">
                    <a:noFill/>
                  </a:tcPr>
                </a:tc>
                <a:extLst>
                  <a:ext uri="{0D108BD9-81ED-4DB2-BD59-A6C34878D82A}">
                    <a16:rowId xmlns:a16="http://schemas.microsoft.com/office/drawing/2014/main" val="10003"/>
                  </a:ext>
                </a:extLst>
              </a:tr>
              <a:tr h="370000">
                <a:tc>
                  <a:txBody>
                    <a:bodyPr/>
                    <a:lstStyle/>
                    <a:p>
                      <a:pPr algn="l"/>
                      <a:r>
                        <a:rPr lang="en-US" sz="1400" b="1">
                          <a:solidFill>
                            <a:srgbClr val="111827"/>
                          </a:solidFill>
                          <a:latin typeface="Arial"/>
                        </a:rPr>
                        <a:t>Stage loading  ψ</a:t>
                      </a:r>
                    </a:p>
                  </a:txBody>
                  <a:tcPr anchor="ctr">
                    <a:noFill/>
                  </a:tcPr>
                </a:tc>
                <a:tc>
                  <a:txBody>
                    <a:bodyPr/>
                    <a:lstStyle/>
                    <a:p>
                      <a:pPr algn="l"/>
                      <a:r>
                        <a:rPr lang="en-US" sz="1400">
                          <a:solidFill>
                            <a:srgbClr val="111827"/>
                          </a:solidFill>
                          <a:latin typeface="Arial"/>
                        </a:rPr>
                        <a:t>CFD</a:t>
                      </a:r>
                    </a:p>
                  </a:txBody>
                  <a:tcPr anchor="ctr">
                    <a:noFill/>
                  </a:tcPr>
                </a:tc>
                <a:tc>
                  <a:txBody>
                    <a:bodyPr/>
                    <a:lstStyle/>
                    <a:p>
                      <a:pPr algn="ctr"/>
                      <a:r>
                        <a:rPr lang="en-US" sz="1400" dirty="0">
                          <a:solidFill>
                            <a:srgbClr val="111827"/>
                          </a:solidFill>
                          <a:latin typeface="Arial"/>
                        </a:rPr>
                        <a:t>1.61</a:t>
                      </a:r>
                    </a:p>
                  </a:txBody>
                  <a:tcPr anchor="ctr">
                    <a:noFill/>
                  </a:tcPr>
                </a:tc>
                <a:tc>
                  <a:txBody>
                    <a:bodyPr/>
                    <a:lstStyle/>
                    <a:p>
                      <a:pPr algn="ctr"/>
                      <a:r>
                        <a:rPr lang="en-US" sz="1400">
                          <a:solidFill>
                            <a:srgbClr val="111827"/>
                          </a:solidFill>
                          <a:latin typeface="Arial"/>
                        </a:rPr>
                        <a:t>1.20</a:t>
                      </a:r>
                    </a:p>
                  </a:txBody>
                  <a:tcPr anchor="ctr">
                    <a:noFill/>
                  </a:tcPr>
                </a:tc>
                <a:extLst>
                  <a:ext uri="{0D108BD9-81ED-4DB2-BD59-A6C34878D82A}">
                    <a16:rowId xmlns:a16="http://schemas.microsoft.com/office/drawing/2014/main" val="10004"/>
                  </a:ext>
                </a:extLst>
              </a:tr>
              <a:tr h="370000">
                <a:tc>
                  <a:txBody>
                    <a:bodyPr/>
                    <a:lstStyle/>
                    <a:p>
                      <a:pPr algn="l"/>
                      <a:endParaRPr/>
                    </a:p>
                  </a:txBody>
                  <a:tcPr anchor="ctr">
                    <a:noFill/>
                  </a:tcPr>
                </a:tc>
                <a:tc>
                  <a:txBody>
                    <a:bodyPr/>
                    <a:lstStyle/>
                    <a:p>
                      <a:pPr algn="l"/>
                      <a:r>
                        <a:rPr lang="en-US" sz="1400">
                          <a:solidFill>
                            <a:srgbClr val="111827"/>
                          </a:solidFill>
                          <a:latin typeface="Arial"/>
                        </a:rPr>
                        <a:t>Turbo-Design</a:t>
                      </a:r>
                    </a:p>
                  </a:txBody>
                  <a:tcPr anchor="ctr">
                    <a:noFill/>
                  </a:tcPr>
                </a:tc>
                <a:tc>
                  <a:txBody>
                    <a:bodyPr/>
                    <a:lstStyle/>
                    <a:p>
                      <a:pPr algn="ctr"/>
                      <a:r>
                        <a:rPr lang="en-US" sz="1400">
                          <a:solidFill>
                            <a:srgbClr val="111827"/>
                          </a:solidFill>
                          <a:latin typeface="Arial"/>
                        </a:rPr>
                        <a:t>1.56</a:t>
                      </a:r>
                    </a:p>
                  </a:txBody>
                  <a:tcPr anchor="ctr">
                    <a:noFill/>
                  </a:tcPr>
                </a:tc>
                <a:tc>
                  <a:txBody>
                    <a:bodyPr/>
                    <a:lstStyle/>
                    <a:p>
                      <a:pPr algn="ctr"/>
                      <a:r>
                        <a:rPr lang="en-US" sz="1400">
                          <a:solidFill>
                            <a:srgbClr val="111827"/>
                          </a:solidFill>
                          <a:latin typeface="Arial"/>
                        </a:rPr>
                        <a:t>1.26</a:t>
                      </a:r>
                    </a:p>
                  </a:txBody>
                  <a:tcPr anchor="ctr">
                    <a:noFill/>
                  </a:tcPr>
                </a:tc>
                <a:extLst>
                  <a:ext uri="{0D108BD9-81ED-4DB2-BD59-A6C34878D82A}">
                    <a16:rowId xmlns:a16="http://schemas.microsoft.com/office/drawing/2014/main" val="10005"/>
                  </a:ext>
                </a:extLst>
              </a:tr>
              <a:tr h="370000">
                <a:tc>
                  <a:txBody>
                    <a:bodyPr/>
                    <a:lstStyle/>
                    <a:p>
                      <a:pPr algn="l"/>
                      <a:endParaRPr/>
                    </a:p>
                  </a:txBody>
                  <a:tcPr anchor="ctr">
                    <a:noFill/>
                  </a:tcPr>
                </a:tc>
                <a:tc>
                  <a:txBody>
                    <a:bodyPr/>
                    <a:lstStyle/>
                    <a:p>
                      <a:pPr algn="l"/>
                      <a:r>
                        <a:rPr lang="en-US" sz="1400">
                          <a:solidFill>
                            <a:srgbClr val="6B7280"/>
                          </a:solidFill>
                          <a:latin typeface="Arial"/>
                        </a:rPr>
                        <a:t>Error</a:t>
                      </a:r>
                    </a:p>
                  </a:txBody>
                  <a:tcPr anchor="ctr">
                    <a:noFill/>
                  </a:tcPr>
                </a:tc>
                <a:tc>
                  <a:txBody>
                    <a:bodyPr/>
                    <a:lstStyle/>
                    <a:p>
                      <a:pPr algn="ctr"/>
                      <a:r>
                        <a:rPr lang="en-US" sz="1400" dirty="0">
                          <a:solidFill>
                            <a:schemeClr val="accent5"/>
                          </a:solidFill>
                          <a:latin typeface="Arial"/>
                        </a:rPr>
                        <a:t>3.1 %</a:t>
                      </a:r>
                    </a:p>
                  </a:txBody>
                  <a:tcPr anchor="ctr">
                    <a:noFill/>
                  </a:tcPr>
                </a:tc>
                <a:tc>
                  <a:txBody>
                    <a:bodyPr/>
                    <a:lstStyle/>
                    <a:p>
                      <a:pPr algn="ctr"/>
                      <a:r>
                        <a:rPr lang="en-US" sz="1400" dirty="0">
                          <a:solidFill>
                            <a:schemeClr val="accent5"/>
                          </a:solidFill>
                          <a:latin typeface="Arial"/>
                        </a:rPr>
                        <a:t>5.0 %</a:t>
                      </a:r>
                    </a:p>
                  </a:txBody>
                  <a:tcPr anchor="ctr">
                    <a:noFill/>
                  </a:tcPr>
                </a:tc>
                <a:extLst>
                  <a:ext uri="{0D108BD9-81ED-4DB2-BD59-A6C34878D82A}">
                    <a16:rowId xmlns:a16="http://schemas.microsoft.com/office/drawing/2014/main" val="10006"/>
                  </a:ext>
                </a:extLst>
              </a:tr>
              <a:tr h="370000">
                <a:tc>
                  <a:txBody>
                    <a:bodyPr/>
                    <a:lstStyle/>
                    <a:p>
                      <a:pPr algn="l"/>
                      <a:r>
                        <a:rPr lang="en-US" sz="1400" b="1">
                          <a:solidFill>
                            <a:srgbClr val="111827"/>
                          </a:solidFill>
                          <a:latin typeface="Arial"/>
                        </a:rPr>
                        <a:t>Mass flow  [kg/s]</a:t>
                      </a:r>
                    </a:p>
                  </a:txBody>
                  <a:tcPr anchor="ctr">
                    <a:noFill/>
                  </a:tcPr>
                </a:tc>
                <a:tc>
                  <a:txBody>
                    <a:bodyPr/>
                    <a:lstStyle/>
                    <a:p>
                      <a:pPr algn="l"/>
                      <a:r>
                        <a:rPr lang="en-US" sz="1400">
                          <a:solidFill>
                            <a:srgbClr val="111827"/>
                          </a:solidFill>
                          <a:latin typeface="Arial"/>
                        </a:rPr>
                        <a:t>CFD</a:t>
                      </a:r>
                    </a:p>
                  </a:txBody>
                  <a:tcPr anchor="ctr">
                    <a:noFill/>
                  </a:tcPr>
                </a:tc>
                <a:tc>
                  <a:txBody>
                    <a:bodyPr/>
                    <a:lstStyle/>
                    <a:p>
                      <a:pPr algn="ctr"/>
                      <a:r>
                        <a:rPr lang="en-US" sz="1400">
                          <a:solidFill>
                            <a:srgbClr val="111827"/>
                          </a:solidFill>
                          <a:latin typeface="Arial"/>
                        </a:rPr>
                        <a:t>29.46  (total)</a:t>
                      </a:r>
                    </a:p>
                  </a:txBody>
                  <a:tcPr anchor="ctr">
                    <a:noFill/>
                  </a:tcPr>
                </a:tc>
                <a:tc>
                  <a:txBody>
                    <a:bodyPr/>
                    <a:lstStyle/>
                    <a:p>
                      <a:pPr algn="l"/>
                      <a:endParaRPr/>
                    </a:p>
                  </a:txBody>
                  <a:tcPr anchor="ctr">
                    <a:noFill/>
                  </a:tcPr>
                </a:tc>
                <a:extLst>
                  <a:ext uri="{0D108BD9-81ED-4DB2-BD59-A6C34878D82A}">
                    <a16:rowId xmlns:a16="http://schemas.microsoft.com/office/drawing/2014/main" val="10007"/>
                  </a:ext>
                </a:extLst>
              </a:tr>
              <a:tr h="370000">
                <a:tc>
                  <a:txBody>
                    <a:bodyPr/>
                    <a:lstStyle/>
                    <a:p>
                      <a:pPr algn="l"/>
                      <a:endParaRPr/>
                    </a:p>
                  </a:txBody>
                  <a:tcPr anchor="ctr">
                    <a:noFill/>
                  </a:tcPr>
                </a:tc>
                <a:tc>
                  <a:txBody>
                    <a:bodyPr/>
                    <a:lstStyle/>
                    <a:p>
                      <a:pPr algn="l"/>
                      <a:r>
                        <a:rPr lang="en-US" sz="1400">
                          <a:solidFill>
                            <a:srgbClr val="111827"/>
                          </a:solidFill>
                          <a:latin typeface="Arial"/>
                        </a:rPr>
                        <a:t>Turbo-Design</a:t>
                      </a:r>
                    </a:p>
                  </a:txBody>
                  <a:tcPr anchor="ctr">
                    <a:noFill/>
                  </a:tcPr>
                </a:tc>
                <a:tc>
                  <a:txBody>
                    <a:bodyPr/>
                    <a:lstStyle/>
                    <a:p>
                      <a:pPr algn="ctr"/>
                      <a:r>
                        <a:rPr lang="en-US" sz="1400">
                          <a:solidFill>
                            <a:srgbClr val="111827"/>
                          </a:solidFill>
                          <a:latin typeface="Arial"/>
                        </a:rPr>
                        <a:t>29.4  (total)</a:t>
                      </a:r>
                    </a:p>
                  </a:txBody>
                  <a:tcPr anchor="ctr">
                    <a:noFill/>
                  </a:tcPr>
                </a:tc>
                <a:tc>
                  <a:txBody>
                    <a:bodyPr/>
                    <a:lstStyle/>
                    <a:p>
                      <a:pPr algn="l"/>
                      <a:endParaRPr/>
                    </a:p>
                  </a:txBody>
                  <a:tcPr anchor="ctr">
                    <a:noFill/>
                  </a:tcPr>
                </a:tc>
                <a:extLst>
                  <a:ext uri="{0D108BD9-81ED-4DB2-BD59-A6C34878D82A}">
                    <a16:rowId xmlns:a16="http://schemas.microsoft.com/office/drawing/2014/main" val="10008"/>
                  </a:ext>
                </a:extLst>
              </a:tr>
              <a:tr h="370000">
                <a:tc>
                  <a:txBody>
                    <a:bodyPr/>
                    <a:lstStyle/>
                    <a:p>
                      <a:pPr algn="l"/>
                      <a:endParaRPr/>
                    </a:p>
                  </a:txBody>
                  <a:tcPr anchor="ctr">
                    <a:noFill/>
                  </a:tcPr>
                </a:tc>
                <a:tc>
                  <a:txBody>
                    <a:bodyPr/>
                    <a:lstStyle/>
                    <a:p>
                      <a:pPr algn="l"/>
                      <a:r>
                        <a:rPr lang="en-US" sz="1400">
                          <a:solidFill>
                            <a:srgbClr val="6B7280"/>
                          </a:solidFill>
                          <a:latin typeface="Arial"/>
                        </a:rPr>
                        <a:t>Error</a:t>
                      </a:r>
                    </a:p>
                  </a:txBody>
                  <a:tcPr anchor="ctr">
                    <a:noFill/>
                  </a:tcPr>
                </a:tc>
                <a:tc>
                  <a:txBody>
                    <a:bodyPr/>
                    <a:lstStyle/>
                    <a:p>
                      <a:pPr algn="ctr"/>
                      <a:r>
                        <a:rPr lang="en-US" sz="1400" dirty="0">
                          <a:solidFill>
                            <a:schemeClr val="accent5"/>
                          </a:solidFill>
                          <a:latin typeface="Arial"/>
                        </a:rPr>
                        <a:t>0.2 %</a:t>
                      </a:r>
                    </a:p>
                  </a:txBody>
                  <a:tcPr anchor="ctr">
                    <a:noFill/>
                  </a:tcPr>
                </a:tc>
                <a:tc>
                  <a:txBody>
                    <a:bodyPr/>
                    <a:lstStyle/>
                    <a:p>
                      <a:pPr algn="l"/>
                      <a:endParaRPr dirty="0"/>
                    </a:p>
                  </a:txBody>
                  <a:tcPr anchor="ctr">
                    <a:noFill/>
                  </a:tcPr>
                </a:tc>
                <a:extLst>
                  <a:ext uri="{0D108BD9-81ED-4DB2-BD59-A6C34878D82A}">
                    <a16:rowId xmlns:a16="http://schemas.microsoft.com/office/drawing/2014/main" val="10009"/>
                  </a:ext>
                </a:extLst>
              </a:tr>
            </a:tbl>
          </a:graphicData>
        </a:graphic>
      </p:graphicFrame>
      <p:sp>
        <p:nvSpPr>
          <p:cNvPr id="501" name="Results note"/>
          <p:cNvSpPr/>
          <p:nvPr/>
        </p:nvSpPr>
        <p:spPr>
          <a:xfrm>
            <a:off x="640080" y="5850000"/>
            <a:ext cx="10881360" cy="400000"/>
          </a:xfrm>
          <a:prstGeom prst="rect">
            <a:avLst/>
          </a:prstGeom>
          <a:noFill/>
        </p:spPr>
        <p:txBody>
          <a:bodyPr wrap="square" lIns="0" tIns="0" rIns="0" bIns="0" anchor="ctr"/>
          <a:lstStyle/>
          <a:p>
            <a:pPr algn="l">
              <a:buNone/>
            </a:pPr>
            <a:r>
              <a:rPr lang="en-US" sz="1200" i="1">
                <a:solidFill>
                  <a:srgbClr val="6B7280"/>
                </a:solidFill>
                <a:latin typeface="Arial"/>
              </a:rPr>
              <a:t>CFD-measured total-pressure loss prescribed per blade row (Eq. 22). Stage efficiency and mass flow agree within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10 · VALIDATION 2</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Radial turbine — where the curvature term matters</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5" name="Shape 3"/>
          <p:cNvSpPr/>
          <p:nvPr/>
        </p:nvSpPr>
        <p:spPr>
          <a:xfrm>
            <a:off x="640080" y="1783080"/>
            <a:ext cx="6583680" cy="4114800"/>
          </a:xfrm>
          <a:prstGeom prst="rect">
            <a:avLst/>
          </a:prstGeom>
          <a:solidFill>
            <a:srgbClr val="F3F4F6"/>
          </a:solidFill>
          <a:ln w="6350">
            <a:solidFill>
              <a:srgbClr val="D1D5DB"/>
            </a:solidFill>
            <a:prstDash val="solid"/>
          </a:ln>
        </p:spPr>
        <p:txBody>
          <a:bodyPr/>
          <a:lstStyle/>
          <a:p>
            <a:endParaRPr lang="en-US"/>
          </a:p>
        </p:txBody>
      </p:sp>
      <p:pic>
        <p:nvPicPr>
          <p:cNvPr id="600" name="Radial Schematic"/>
          <p:cNvPicPr>
            <a:picLocks noChangeAspect="1"/>
          </p:cNvPicPr>
          <p:nvPr/>
        </p:nvPicPr>
        <p:blipFill>
          <a:blip r:embed="rId2"/>
          <a:stretch>
            <a:fillRect/>
          </a:stretch>
        </p:blipFill>
        <p:spPr>
          <a:xfrm>
            <a:off x="1422432" y="1883080"/>
            <a:ext cx="5018974" cy="3914800"/>
          </a:xfrm>
          <a:prstGeom prst="rect">
            <a:avLst/>
          </a:prstGeom>
        </p:spPr>
      </p:pic>
      <p:sp>
        <p:nvSpPr>
          <p:cNvPr id="7" name="Text 5"/>
          <p:cNvSpPr/>
          <p:nvPr/>
        </p:nvSpPr>
        <p:spPr>
          <a:xfrm>
            <a:off x="640080" y="5989320"/>
            <a:ext cx="6583680" cy="365760"/>
          </a:xfrm>
          <a:prstGeom prst="rect">
            <a:avLst/>
          </a:prstGeom>
          <a:noFill/>
          <a:ln/>
        </p:spPr>
        <p:txBody>
          <a:bodyPr wrap="square" lIns="0" tIns="0" rIns="0" bIns="0" rtlCol="0" anchor="t"/>
          <a:lstStyle/>
          <a:p>
            <a:pPr marL="0" indent="0" algn="l">
              <a:buNone/>
            </a:pPr>
            <a:r>
              <a:rPr lang="en-US" sz="1200" i="1" dirty="0">
                <a:solidFill>
                  <a:srgbClr val="6B7280"/>
                </a:solidFill>
                <a:latin typeface="Arial" pitchFamily="34" charset="0"/>
                <a:ea typeface="Arial" pitchFamily="34" charset="-122"/>
                <a:cs typeface="Arial" pitchFamily="34" charset="-120"/>
              </a:rPr>
              <a:t>Radial turbine generated with PyTurbo-Aero; geometry as used for the CFD validation.</a:t>
            </a:r>
            <a:endParaRPr lang="en-US" sz="1200" dirty="0"/>
          </a:p>
        </p:txBody>
      </p:sp>
      <p:sp>
        <p:nvSpPr>
          <p:cNvPr id="8" name="Text 6"/>
          <p:cNvSpPr/>
          <p:nvPr/>
        </p:nvSpPr>
        <p:spPr>
          <a:xfrm>
            <a:off x="7680960" y="1783080"/>
            <a:ext cx="384048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Test the Vᵣ · dVₘ/dM term</a:t>
            </a:r>
            <a:endParaRPr lang="en-US" sz="1800" dirty="0"/>
          </a:p>
        </p:txBody>
      </p:sp>
      <p:sp>
        <p:nvSpPr>
          <p:cNvPr id="9" name="Text 7"/>
          <p:cNvSpPr/>
          <p:nvPr/>
        </p:nvSpPr>
        <p:spPr>
          <a:xfrm>
            <a:off x="7680960" y="2285999"/>
            <a:ext cx="4196080" cy="3680457"/>
          </a:xfrm>
          <a:prstGeom prst="rect">
            <a:avLst/>
          </a:prstGeom>
          <a:noFill/>
          <a:ln/>
        </p:spPr>
        <p:txBody>
          <a:bodyPr wrap="square" lIns="0" tIns="0" rIns="0" bIns="0" rtlCol="0" anchor="t"/>
          <a:lstStyle/>
          <a:p>
            <a:pPr marL="0" indent="0" algn="l">
              <a:spcAft>
                <a:spcPts val="600"/>
              </a:spcAft>
              <a:buNone/>
            </a:pPr>
            <a:r>
              <a:rPr lang="en-US" sz="1400" dirty="0">
                <a:solidFill>
                  <a:srgbClr val="111111"/>
                </a:solidFill>
                <a:latin typeface="Arial" pitchFamily="34" charset="0"/>
                <a:ea typeface="Arial" pitchFamily="34" charset="-122"/>
                <a:cs typeface="Arial" pitchFamily="34" charset="-120"/>
              </a:rPr>
              <a:t>This is the case where dropping the curvature term in Eq 15 would matter most.</a:t>
            </a:r>
          </a:p>
          <a:p>
            <a:pPr marL="0" indent="0" algn="l">
              <a:spcAft>
                <a:spcPts val="600"/>
              </a:spcAft>
              <a:buNone/>
            </a:pPr>
            <a:endParaRPr lang="en-US" sz="1400" dirty="0">
              <a:solidFill>
                <a:srgbClr val="111111"/>
              </a:solidFill>
              <a:latin typeface="Arial" pitchFamily="34" charset="0"/>
              <a:ea typeface="Arial" pitchFamily="34" charset="-122"/>
              <a:cs typeface="Arial" pitchFamily="34" charset="-120"/>
            </a:endParaRPr>
          </a:p>
          <a:p>
            <a:pPr marL="0" indent="0" algn="l">
              <a:spcAft>
                <a:spcPts val="600"/>
              </a:spcAft>
              <a:buNone/>
            </a:pPr>
            <a:endParaRPr lang="en-US" sz="1400" dirty="0">
              <a:solidFill>
                <a:srgbClr val="111111"/>
              </a:solidFill>
              <a:latin typeface="Arial" pitchFamily="34" charset="0"/>
              <a:ea typeface="Arial" pitchFamily="34" charset="-122"/>
              <a:cs typeface="Arial" pitchFamily="34" charset="-120"/>
            </a:endParaRPr>
          </a:p>
          <a:p>
            <a:pPr marL="0" indent="0" algn="l">
              <a:spcAft>
                <a:spcPts val="600"/>
              </a:spcAft>
              <a:buNone/>
            </a:pPr>
            <a:r>
              <a:rPr lang="en-US" sz="1400" dirty="0">
                <a:solidFill>
                  <a:srgbClr val="111111"/>
                </a:solidFill>
                <a:latin typeface="Arial" pitchFamily="34" charset="0"/>
                <a:ea typeface="Arial" pitchFamily="34" charset="-122"/>
                <a:cs typeface="Arial" pitchFamily="34" charset="-120"/>
              </a:rPr>
              <a:t>
Inlet:  P</a:t>
            </a:r>
            <a:r>
              <a:rPr lang="en-US" sz="1400" baseline="-25000" dirty="0">
                <a:solidFill>
                  <a:srgbClr val="111111"/>
                </a:solidFill>
                <a:latin typeface="Arial" pitchFamily="34" charset="0"/>
                <a:ea typeface="Arial" pitchFamily="34" charset="-122"/>
                <a:cs typeface="Arial" pitchFamily="34" charset="-120"/>
              </a:rPr>
              <a:t>0R</a:t>
            </a:r>
            <a:r>
              <a:rPr lang="en-US" sz="1400" dirty="0">
                <a:solidFill>
                  <a:srgbClr val="111111"/>
                </a:solidFill>
                <a:latin typeface="Arial" pitchFamily="34" charset="0"/>
                <a:ea typeface="Arial" pitchFamily="34" charset="-122"/>
                <a:cs typeface="Arial" pitchFamily="34" charset="-120"/>
              </a:rPr>
              <a:t> = 50 bar,  T</a:t>
            </a:r>
            <a:r>
              <a:rPr lang="en-US" sz="1400" baseline="-25000" dirty="0">
                <a:solidFill>
                  <a:srgbClr val="111111"/>
                </a:solidFill>
                <a:latin typeface="Arial" pitchFamily="34" charset="0"/>
                <a:ea typeface="Arial" pitchFamily="34" charset="-122"/>
                <a:cs typeface="Arial" pitchFamily="34" charset="-120"/>
              </a:rPr>
              <a:t>0R</a:t>
            </a:r>
            <a:r>
              <a:rPr lang="en-US" sz="1400" dirty="0">
                <a:solidFill>
                  <a:srgbClr val="111111"/>
                </a:solidFill>
                <a:latin typeface="Arial" pitchFamily="34" charset="0"/>
                <a:ea typeface="Arial" pitchFamily="34" charset="-122"/>
                <a:cs typeface="Arial" pitchFamily="34" charset="-120"/>
              </a:rPr>
              <a:t> = 1200 K
Exit:  </a:t>
            </a:r>
            <a:r>
              <a:rPr lang="en-US" sz="1400" dirty="0" err="1">
                <a:solidFill>
                  <a:srgbClr val="111111"/>
                </a:solidFill>
                <a:latin typeface="Arial" pitchFamily="34" charset="0"/>
                <a:ea typeface="Arial" pitchFamily="34" charset="-122"/>
                <a:cs typeface="Arial" pitchFamily="34" charset="-120"/>
              </a:rPr>
              <a:t>P</a:t>
            </a:r>
            <a:r>
              <a:rPr lang="en-US" sz="1400" baseline="-25000" dirty="0" err="1">
                <a:solidFill>
                  <a:srgbClr val="111111"/>
                </a:solidFill>
                <a:latin typeface="Arial" pitchFamily="34" charset="0"/>
                <a:ea typeface="Arial" pitchFamily="34" charset="-122"/>
                <a:cs typeface="Arial" pitchFamily="34" charset="-120"/>
              </a:rPr>
              <a:t>static</a:t>
            </a:r>
            <a:r>
              <a:rPr lang="en-US" sz="1400" dirty="0">
                <a:solidFill>
                  <a:srgbClr val="111111"/>
                </a:solidFill>
                <a:latin typeface="Arial" pitchFamily="34" charset="0"/>
                <a:ea typeface="Arial" pitchFamily="34" charset="-122"/>
                <a:cs typeface="Arial" pitchFamily="34" charset="-120"/>
              </a:rPr>
              <a:t> = 25 bar
Rotor: 50000 RPM,  γ = 1.35
A zero-loss stator upstream of the rotor enforces α₁ = 0; α₂ is matched to the CFD rotor-inlet angle.</a:t>
            </a:r>
            <a:endParaRPr lang="en-US" sz="1400" dirty="0"/>
          </a:p>
        </p:txBody>
      </p:sp>
      <p:sp>
        <p:nvSpPr>
          <p:cNvPr id="10" name="Shape 8"/>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1" name="Text 9"/>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10 · Validation 2 — Radial</a:t>
            </a:r>
            <a:endParaRPr lang="en-US" sz="900" dirty="0"/>
          </a:p>
        </p:txBody>
      </p:sp>
      <p:sp>
        <p:nvSpPr>
          <p:cNvPr id="12" name="Text 10"/>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11</a:t>
            </a:r>
            <a:endParaRPr lang="en-US" sz="9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9BF6F1E-4BDD-21C8-573F-E685D82A6A3B}"/>
                  </a:ext>
                </a:extLst>
              </p:cNvPr>
              <p:cNvSpPr txBox="1"/>
              <p:nvPr/>
            </p:nvSpPr>
            <p:spPr>
              <a:xfrm>
                <a:off x="8006112" y="2882786"/>
                <a:ext cx="3393406" cy="6994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i="1" smtClean="0">
                              <a:solidFill>
                                <a:schemeClr val="bg1">
                                  <a:lumMod val="50000"/>
                                </a:schemeClr>
                              </a:solidFill>
                              <a:latin typeface="Cambria Math" panose="02040503050406030204" pitchFamily="18" charset="0"/>
                            </a:rPr>
                          </m:ctrlPr>
                        </m:fPr>
                        <m:num>
                          <m:r>
                            <a:rPr lang="en-US" i="0">
                              <a:solidFill>
                                <a:schemeClr val="bg1">
                                  <a:lumMod val="50000"/>
                                </a:schemeClr>
                              </a:solidFill>
                              <a:latin typeface="Cambria Math" panose="02040503050406030204" pitchFamily="18" charset="0"/>
                            </a:rPr>
                            <m:t>1</m:t>
                          </m:r>
                        </m:num>
                        <m:den>
                          <m:r>
                            <a:rPr lang="en-US" i="1">
                              <a:solidFill>
                                <a:schemeClr val="bg1">
                                  <a:lumMod val="50000"/>
                                </a:schemeClr>
                              </a:solidFill>
                              <a:latin typeface="Cambria Math" panose="02040503050406030204" pitchFamily="18" charset="0"/>
                            </a:rPr>
                            <m:t>𝜌</m:t>
                          </m:r>
                        </m:den>
                      </m:f>
                      <m:f>
                        <m:fPr>
                          <m:ctrlPr>
                            <a:rPr lang="en-US" i="1">
                              <a:solidFill>
                                <a:schemeClr val="bg1">
                                  <a:lumMod val="50000"/>
                                </a:schemeClr>
                              </a:solidFill>
                              <a:latin typeface="Cambria Math" panose="02040503050406030204" pitchFamily="18" charset="0"/>
                            </a:rPr>
                          </m:ctrlPr>
                        </m:fPr>
                        <m:num>
                          <m:r>
                            <a:rPr lang="en-US" i="1">
                              <a:solidFill>
                                <a:schemeClr val="bg1">
                                  <a:lumMod val="50000"/>
                                </a:schemeClr>
                              </a:solidFill>
                              <a:latin typeface="Cambria Math" panose="02040503050406030204" pitchFamily="18" charset="0"/>
                            </a:rPr>
                            <m:t>𝑑𝑃</m:t>
                          </m:r>
                        </m:num>
                        <m:den>
                          <m:r>
                            <a:rPr lang="en-US" i="1">
                              <a:solidFill>
                                <a:schemeClr val="bg1">
                                  <a:lumMod val="50000"/>
                                </a:schemeClr>
                              </a:solidFill>
                              <a:latin typeface="Cambria Math" panose="02040503050406030204" pitchFamily="18" charset="0"/>
                            </a:rPr>
                            <m:t>𝑑𝑟</m:t>
                          </m:r>
                        </m:den>
                      </m:f>
                      <m:r>
                        <a:rPr lang="en-US" i="0">
                          <a:solidFill>
                            <a:schemeClr val="bg1">
                              <a:lumMod val="50000"/>
                            </a:schemeClr>
                          </a:solidFill>
                          <a:latin typeface="Cambria Math" panose="02040503050406030204" pitchFamily="18" charset="0"/>
                        </a:rPr>
                        <m:t>=</m:t>
                      </m:r>
                      <m:f>
                        <m:fPr>
                          <m:ctrlPr>
                            <a:rPr lang="en-US" i="1">
                              <a:solidFill>
                                <a:schemeClr val="bg1">
                                  <a:lumMod val="50000"/>
                                </a:schemeClr>
                              </a:solidFill>
                              <a:latin typeface="Cambria Math" panose="02040503050406030204" pitchFamily="18" charset="0"/>
                            </a:rPr>
                          </m:ctrlPr>
                        </m:fPr>
                        <m:num>
                          <m:sSubSup>
                            <m:sSubSupPr>
                              <m:ctrlPr>
                                <a:rPr lang="en-US" i="1">
                                  <a:solidFill>
                                    <a:schemeClr val="bg1">
                                      <a:lumMod val="50000"/>
                                    </a:schemeClr>
                                  </a:solidFill>
                                  <a:latin typeface="Cambria Math" panose="02040503050406030204" pitchFamily="18" charset="0"/>
                                </a:rPr>
                              </m:ctrlPr>
                            </m:sSubSupPr>
                            <m:e>
                              <m:r>
                                <a:rPr lang="en-US" i="1">
                                  <a:solidFill>
                                    <a:schemeClr val="bg1">
                                      <a:lumMod val="50000"/>
                                    </a:schemeClr>
                                  </a:solidFill>
                                  <a:latin typeface="Cambria Math" panose="02040503050406030204" pitchFamily="18" charset="0"/>
                                </a:rPr>
                                <m:t>𝑉</m:t>
                              </m:r>
                            </m:e>
                            <m:sub>
                              <m:r>
                                <a:rPr lang="en-US" i="1">
                                  <a:solidFill>
                                    <a:schemeClr val="bg1">
                                      <a:lumMod val="50000"/>
                                    </a:schemeClr>
                                  </a:solidFill>
                                  <a:latin typeface="Cambria Math" panose="02040503050406030204" pitchFamily="18" charset="0"/>
                                </a:rPr>
                                <m:t>𝑇</m:t>
                              </m:r>
                            </m:sub>
                            <m:sup>
                              <m:r>
                                <a:rPr lang="en-US" i="0">
                                  <a:solidFill>
                                    <a:schemeClr val="bg1">
                                      <a:lumMod val="50000"/>
                                    </a:schemeClr>
                                  </a:solidFill>
                                  <a:latin typeface="Cambria Math" panose="02040503050406030204" pitchFamily="18" charset="0"/>
                                </a:rPr>
                                <m:t>2</m:t>
                              </m:r>
                            </m:sup>
                          </m:sSubSup>
                        </m:num>
                        <m:den>
                          <m:r>
                            <a:rPr lang="en-US" i="1">
                              <a:solidFill>
                                <a:schemeClr val="bg1">
                                  <a:lumMod val="50000"/>
                                </a:schemeClr>
                              </a:solidFill>
                              <a:latin typeface="Cambria Math" panose="02040503050406030204" pitchFamily="18" charset="0"/>
                            </a:rPr>
                            <m:t>𝑟</m:t>
                          </m:r>
                        </m:den>
                      </m:f>
                      <m:r>
                        <a:rPr lang="en-US" i="0">
                          <a:solidFill>
                            <a:schemeClr val="bg1">
                              <a:lumMod val="50000"/>
                            </a:schemeClr>
                          </a:solidFill>
                          <a:latin typeface="Cambria Math" panose="02040503050406030204" pitchFamily="18" charset="0"/>
                        </a:rPr>
                        <m:t>−</m:t>
                      </m:r>
                      <m:f>
                        <m:fPr>
                          <m:ctrlPr>
                            <a:rPr lang="en-US" i="1">
                              <a:solidFill>
                                <a:schemeClr val="bg1">
                                  <a:lumMod val="50000"/>
                                </a:schemeClr>
                              </a:solidFill>
                              <a:latin typeface="Cambria Math" panose="02040503050406030204" pitchFamily="18" charset="0"/>
                            </a:rPr>
                          </m:ctrlPr>
                        </m:fPr>
                        <m:num>
                          <m:sSubSup>
                            <m:sSubSupPr>
                              <m:ctrlPr>
                                <a:rPr lang="en-US" i="1">
                                  <a:solidFill>
                                    <a:schemeClr val="bg1">
                                      <a:lumMod val="50000"/>
                                    </a:schemeClr>
                                  </a:solidFill>
                                  <a:latin typeface="Cambria Math" panose="02040503050406030204" pitchFamily="18" charset="0"/>
                                </a:rPr>
                              </m:ctrlPr>
                            </m:sSubSupPr>
                            <m:e>
                              <m:r>
                                <a:rPr lang="en-US" i="1">
                                  <a:solidFill>
                                    <a:schemeClr val="bg1">
                                      <a:lumMod val="50000"/>
                                    </a:schemeClr>
                                  </a:solidFill>
                                  <a:latin typeface="Cambria Math" panose="02040503050406030204" pitchFamily="18" charset="0"/>
                                </a:rPr>
                                <m:t>𝑉</m:t>
                              </m:r>
                            </m:e>
                            <m:sub>
                              <m:r>
                                <a:rPr lang="en-US" i="1">
                                  <a:solidFill>
                                    <a:schemeClr val="bg1">
                                      <a:lumMod val="50000"/>
                                    </a:schemeClr>
                                  </a:solidFill>
                                  <a:latin typeface="Cambria Math" panose="02040503050406030204" pitchFamily="18" charset="0"/>
                                </a:rPr>
                                <m:t>𝑀</m:t>
                              </m:r>
                            </m:sub>
                            <m:sup>
                              <m:r>
                                <a:rPr lang="en-US" i="0">
                                  <a:solidFill>
                                    <a:schemeClr val="bg1">
                                      <a:lumMod val="50000"/>
                                    </a:schemeClr>
                                  </a:solidFill>
                                  <a:latin typeface="Cambria Math" panose="02040503050406030204" pitchFamily="18" charset="0"/>
                                </a:rPr>
                                <m:t>2</m:t>
                              </m:r>
                            </m:sup>
                          </m:sSubSup>
                        </m:num>
                        <m:den>
                          <m:sSub>
                            <m:sSubPr>
                              <m:ctrlPr>
                                <a:rPr lang="en-US" i="1">
                                  <a:solidFill>
                                    <a:schemeClr val="bg1">
                                      <a:lumMod val="50000"/>
                                    </a:schemeClr>
                                  </a:solidFill>
                                  <a:latin typeface="Cambria Math" panose="02040503050406030204" pitchFamily="18" charset="0"/>
                                </a:rPr>
                              </m:ctrlPr>
                            </m:sSubPr>
                            <m:e>
                              <m:r>
                                <a:rPr lang="en-US" i="1">
                                  <a:solidFill>
                                    <a:schemeClr val="bg1">
                                      <a:lumMod val="50000"/>
                                    </a:schemeClr>
                                  </a:solidFill>
                                  <a:latin typeface="Cambria Math" panose="02040503050406030204" pitchFamily="18" charset="0"/>
                                </a:rPr>
                                <m:t>𝑟</m:t>
                              </m:r>
                            </m:e>
                            <m:sub>
                              <m:r>
                                <a:rPr lang="en-US" i="1">
                                  <a:solidFill>
                                    <a:schemeClr val="bg1">
                                      <a:lumMod val="50000"/>
                                    </a:schemeClr>
                                  </a:solidFill>
                                  <a:latin typeface="Cambria Math" panose="02040503050406030204" pitchFamily="18" charset="0"/>
                                </a:rPr>
                                <m:t>𝑀</m:t>
                              </m:r>
                            </m:sub>
                          </m:sSub>
                        </m:den>
                      </m:f>
                      <m:func>
                        <m:funcPr>
                          <m:ctrlPr>
                            <a:rPr lang="en-US" i="1">
                              <a:solidFill>
                                <a:schemeClr val="bg1">
                                  <a:lumMod val="50000"/>
                                </a:schemeClr>
                              </a:solidFill>
                              <a:latin typeface="Cambria Math" panose="02040503050406030204" pitchFamily="18" charset="0"/>
                            </a:rPr>
                          </m:ctrlPr>
                        </m:funcPr>
                        <m:fName>
                          <m:r>
                            <a:rPr lang="en-US" i="1">
                              <a:solidFill>
                                <a:schemeClr val="bg1">
                                  <a:lumMod val="50000"/>
                                </a:schemeClr>
                              </a:solidFill>
                              <a:latin typeface="Cambria Math" panose="02040503050406030204" pitchFamily="18" charset="0"/>
                            </a:rPr>
                            <m:t>𝑐𝑜𝑠</m:t>
                          </m:r>
                        </m:fName>
                        <m:e>
                          <m:d>
                            <m:dPr>
                              <m:ctrlPr>
                                <a:rPr lang="en-US" i="1">
                                  <a:solidFill>
                                    <a:schemeClr val="bg1">
                                      <a:lumMod val="50000"/>
                                    </a:schemeClr>
                                  </a:solidFill>
                                  <a:latin typeface="Cambria Math" panose="02040503050406030204" pitchFamily="18" charset="0"/>
                                </a:rPr>
                              </m:ctrlPr>
                            </m:dPr>
                            <m:e>
                              <m:r>
                                <a:rPr lang="en-US" i="1">
                                  <a:solidFill>
                                    <a:schemeClr val="bg1">
                                      <a:lumMod val="50000"/>
                                    </a:schemeClr>
                                  </a:solidFill>
                                  <a:latin typeface="Cambria Math" panose="02040503050406030204" pitchFamily="18" charset="0"/>
                                </a:rPr>
                                <m:t>𝜙</m:t>
                              </m:r>
                            </m:e>
                          </m:d>
                        </m:e>
                      </m:func>
                      <m:r>
                        <a:rPr lang="en-US" i="0">
                          <a:solidFill>
                            <a:schemeClr val="bg1">
                              <a:lumMod val="50000"/>
                            </a:schemeClr>
                          </a:solidFill>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𝑟</m:t>
                          </m:r>
                        </m:sub>
                      </m:sSub>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𝑀</m:t>
                              </m:r>
                            </m:sub>
                          </m:sSub>
                        </m:num>
                        <m:den>
                          <m:r>
                            <a:rPr lang="en-US" i="1">
                              <a:latin typeface="Cambria Math" panose="02040503050406030204" pitchFamily="18" charset="0"/>
                            </a:rPr>
                            <m:t>𝑑𝑀</m:t>
                          </m:r>
                        </m:den>
                      </m:f>
                    </m:oMath>
                  </m:oMathPara>
                </a14:m>
                <a:endParaRPr lang="en-US" dirty="0"/>
              </a:p>
            </p:txBody>
          </p:sp>
        </mc:Choice>
        <mc:Fallback xmlns="">
          <p:sp>
            <p:nvSpPr>
              <p:cNvPr id="15" name="TextBox 14">
                <a:extLst>
                  <a:ext uri="{FF2B5EF4-FFF2-40B4-BE49-F238E27FC236}">
                    <a16:creationId xmlns:a16="http://schemas.microsoft.com/office/drawing/2014/main" id="{29BF6F1E-4BDD-21C8-573F-E685D82A6A3B}"/>
                  </a:ext>
                </a:extLst>
              </p:cNvPr>
              <p:cNvSpPr txBox="1">
                <a:spLocks noRot="1" noChangeAspect="1" noMove="1" noResize="1" noEditPoints="1" noAdjustHandles="1" noChangeArrowheads="1" noChangeShapeType="1" noTextEdit="1"/>
              </p:cNvSpPr>
              <p:nvPr/>
            </p:nvSpPr>
            <p:spPr>
              <a:xfrm>
                <a:off x="8006112" y="2882786"/>
                <a:ext cx="3393406" cy="699422"/>
              </a:xfrm>
              <a:prstGeom prst="rect">
                <a:avLst/>
              </a:prstGeom>
              <a:blipFill>
                <a:blip r:embed="rId3"/>
                <a:stretch>
                  <a:fillRect b="-5357"/>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11 · RADIAL RESULTS</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Radial turbine — Turbo-Design vs CFD</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15" name="Shape 13"/>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6" name="Text 14"/>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11 · Radial Results</a:t>
            </a:r>
            <a:endParaRPr lang="en-US" sz="900" dirty="0"/>
          </a:p>
        </p:txBody>
      </p:sp>
      <p:sp>
        <p:nvSpPr>
          <p:cNvPr id="17" name="Text 15"/>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12</a:t>
            </a:r>
            <a:endParaRPr lang="en-US" sz="900" dirty="0"/>
          </a:p>
        </p:txBody>
      </p:sp>
      <p:graphicFrame>
        <p:nvGraphicFramePr>
          <p:cNvPr id="600" name="Radial Comparison Table"/>
          <p:cNvGraphicFramePr/>
          <p:nvPr/>
        </p:nvGraphicFramePr>
        <p:xfrm>
          <a:off x="640080" y="1820000"/>
          <a:ext cx="10881360" cy="3930000"/>
        </p:xfrm>
        <a:graphic>
          <a:graphicData uri="http://schemas.openxmlformats.org/drawingml/2006/table">
            <a:tbl>
              <a:tblPr firstRow="1">
                <a:tableStyleId>{5C22544A-7EE6-4342-B048-85BDC9FD1C3A}</a:tableStyleId>
              </a:tblPr>
              <a:tblGrid>
                <a:gridCol w="4400000">
                  <a:extLst>
                    <a:ext uri="{9D8B030D-6E8A-4147-A177-3AD203B41FA5}">
                      <a16:colId xmlns:a16="http://schemas.microsoft.com/office/drawing/2014/main" val="20000"/>
                    </a:ext>
                  </a:extLst>
                </a:gridCol>
                <a:gridCol w="2160453">
                  <a:extLst>
                    <a:ext uri="{9D8B030D-6E8A-4147-A177-3AD203B41FA5}">
                      <a16:colId xmlns:a16="http://schemas.microsoft.com/office/drawing/2014/main" val="20001"/>
                    </a:ext>
                  </a:extLst>
                </a:gridCol>
                <a:gridCol w="2160453">
                  <a:extLst>
                    <a:ext uri="{9D8B030D-6E8A-4147-A177-3AD203B41FA5}">
                      <a16:colId xmlns:a16="http://schemas.microsoft.com/office/drawing/2014/main" val="20002"/>
                    </a:ext>
                  </a:extLst>
                </a:gridCol>
                <a:gridCol w="2160454">
                  <a:extLst>
                    <a:ext uri="{9D8B030D-6E8A-4147-A177-3AD203B41FA5}">
                      <a16:colId xmlns:a16="http://schemas.microsoft.com/office/drawing/2014/main" val="20003"/>
                    </a:ext>
                  </a:extLst>
                </a:gridCol>
              </a:tblGrid>
              <a:tr h="330000">
                <a:tc>
                  <a:txBody>
                    <a:bodyPr/>
                    <a:lstStyle/>
                    <a:p>
                      <a:pPr algn="l"/>
                      <a:r>
                        <a:rPr lang="en-US" sz="1300" b="1">
                          <a:solidFill>
                            <a:srgbClr val="111827"/>
                          </a:solidFill>
                          <a:latin typeface="Arial"/>
                        </a:rPr>
                        <a:t>Quantity</a:t>
                      </a:r>
                    </a:p>
                  </a:txBody>
                  <a:tcPr marL="82296" marR="82296" marT="27432" marB="27432" anchor="ctr">
                    <a:solidFill>
                      <a:srgbClr val="F3F4F6"/>
                    </a:solidFill>
                  </a:tcPr>
                </a:tc>
                <a:tc>
                  <a:txBody>
                    <a:bodyPr/>
                    <a:lstStyle/>
                    <a:p>
                      <a:pPr algn="ctr"/>
                      <a:r>
                        <a:rPr lang="en-US" sz="1300" b="1">
                          <a:solidFill>
                            <a:srgbClr val="111827"/>
                          </a:solidFill>
                          <a:latin typeface="Arial"/>
                        </a:rPr>
                        <a:t>1D model</a:t>
                      </a:r>
                    </a:p>
                  </a:txBody>
                  <a:tcPr marL="82296" marR="82296" marT="27432" marB="27432" anchor="ctr">
                    <a:solidFill>
                      <a:srgbClr val="F3F4F6"/>
                    </a:solidFill>
                  </a:tcPr>
                </a:tc>
                <a:tc>
                  <a:txBody>
                    <a:bodyPr/>
                    <a:lstStyle/>
                    <a:p>
                      <a:pPr algn="ctr"/>
                      <a:r>
                        <a:rPr lang="en-US" sz="1300" b="1">
                          <a:solidFill>
                            <a:srgbClr val="111827"/>
                          </a:solidFill>
                          <a:latin typeface="Arial"/>
                        </a:rPr>
                        <a:t>CFD</a:t>
                      </a:r>
                    </a:p>
                  </a:txBody>
                  <a:tcPr marL="82296" marR="82296" marT="27432" marB="27432" anchor="ctr">
                    <a:solidFill>
                      <a:srgbClr val="F3F4F6"/>
                    </a:solidFill>
                  </a:tcPr>
                </a:tc>
                <a:tc>
                  <a:txBody>
                    <a:bodyPr/>
                    <a:lstStyle/>
                    <a:p>
                      <a:pPr algn="ctr"/>
                      <a:r>
                        <a:rPr lang="en-US" sz="1300" b="1">
                          <a:solidFill>
                            <a:srgbClr val="111827"/>
                          </a:solidFill>
                          <a:latin typeface="Arial"/>
                        </a:rPr>
                        <a:t>Difference</a:t>
                      </a:r>
                    </a:p>
                  </a:txBody>
                  <a:tcPr marL="82296" marR="82296" marT="27432" marB="27432" anchor="ctr">
                    <a:solidFill>
                      <a:srgbClr val="F3F4F6"/>
                    </a:solidFill>
                  </a:tcPr>
                </a:tc>
                <a:extLst>
                  <a:ext uri="{0D108BD9-81ED-4DB2-BD59-A6C34878D82A}">
                    <a16:rowId xmlns:a16="http://schemas.microsoft.com/office/drawing/2014/main" val="10000"/>
                  </a:ext>
                </a:extLst>
              </a:tr>
              <a:tr h="300000">
                <a:tc>
                  <a:txBody>
                    <a:bodyPr/>
                    <a:lstStyle/>
                    <a:p>
                      <a:pPr algn="l"/>
                      <a:r>
                        <a:rPr lang="en-US" sz="1300" b="1">
                          <a:solidFill>
                            <a:srgbClr val="111827"/>
                          </a:solidFill>
                          <a:latin typeface="Arial"/>
                        </a:rPr>
                        <a:t>P₀ loss (Yp)</a:t>
                      </a:r>
                    </a:p>
                  </a:txBody>
                  <a:tcPr marL="82296" marR="82296" marT="27432" marB="27432" anchor="ctr">
                    <a:noFill/>
                  </a:tcPr>
                </a:tc>
                <a:tc>
                  <a:txBody>
                    <a:bodyPr/>
                    <a:lstStyle/>
                    <a:p>
                      <a:pPr algn="ctr"/>
                      <a:r>
                        <a:rPr lang="en-US" sz="1300">
                          <a:solidFill>
                            <a:srgbClr val="111827"/>
                          </a:solidFill>
                          <a:latin typeface="Arial"/>
                        </a:rPr>
                        <a:t>0.136</a:t>
                      </a:r>
                    </a:p>
                  </a:txBody>
                  <a:tcPr marL="82296" marR="82296" marT="27432" marB="27432" anchor="ctr">
                    <a:noFill/>
                  </a:tcPr>
                </a:tc>
                <a:tc>
                  <a:txBody>
                    <a:bodyPr/>
                    <a:lstStyle/>
                    <a:p>
                      <a:pPr algn="ctr"/>
                      <a:r>
                        <a:rPr lang="en-US" sz="1300">
                          <a:solidFill>
                            <a:srgbClr val="111827"/>
                          </a:solidFill>
                          <a:latin typeface="Arial"/>
                        </a:rPr>
                        <a:t>0.136</a:t>
                      </a:r>
                    </a:p>
                  </a:txBody>
                  <a:tcPr marL="82296" marR="82296" marT="27432" marB="27432" anchor="ctr">
                    <a:noFill/>
                  </a:tcPr>
                </a:tc>
                <a:tc>
                  <a:txBody>
                    <a:bodyPr/>
                    <a:lstStyle/>
                    <a:p>
                      <a:pPr algn="ctr"/>
                      <a:r>
                        <a:rPr lang="en-US" sz="1300">
                          <a:solidFill>
                            <a:srgbClr val="6B7280"/>
                          </a:solidFill>
                          <a:latin typeface="Arial"/>
                        </a:rPr>
                        <a:t>prescribed</a:t>
                      </a:r>
                    </a:p>
                  </a:txBody>
                  <a:tcPr marL="82296" marR="82296" marT="27432" marB="27432" anchor="ctr">
                    <a:noFill/>
                  </a:tcPr>
                </a:tc>
                <a:extLst>
                  <a:ext uri="{0D108BD9-81ED-4DB2-BD59-A6C34878D82A}">
                    <a16:rowId xmlns:a16="http://schemas.microsoft.com/office/drawing/2014/main" val="10001"/>
                  </a:ext>
                </a:extLst>
              </a:tr>
              <a:tr h="300000">
                <a:tc>
                  <a:txBody>
                    <a:bodyPr/>
                    <a:lstStyle/>
                    <a:p>
                      <a:pPr algn="l"/>
                      <a:r>
                        <a:rPr lang="en-US" sz="1300" b="1">
                          <a:solidFill>
                            <a:srgbClr val="111827"/>
                          </a:solidFill>
                          <a:latin typeface="Arial"/>
                        </a:rPr>
                        <a:t>Total-total efficiency</a:t>
                      </a:r>
                    </a:p>
                  </a:txBody>
                  <a:tcPr marL="82296" marR="82296" marT="27432" marB="27432" anchor="ctr">
                    <a:noFill/>
                  </a:tcPr>
                </a:tc>
                <a:tc>
                  <a:txBody>
                    <a:bodyPr/>
                    <a:lstStyle/>
                    <a:p>
                      <a:pPr algn="ctr"/>
                      <a:r>
                        <a:rPr lang="en-US" sz="1300" dirty="0">
                          <a:solidFill>
                            <a:srgbClr val="111827"/>
                          </a:solidFill>
                          <a:latin typeface="Arial"/>
                        </a:rPr>
                        <a:t>0.803</a:t>
                      </a:r>
                    </a:p>
                  </a:txBody>
                  <a:tcPr marL="82296" marR="82296" marT="27432" marB="27432" anchor="ctr">
                    <a:noFill/>
                  </a:tcPr>
                </a:tc>
                <a:tc>
                  <a:txBody>
                    <a:bodyPr/>
                    <a:lstStyle/>
                    <a:p>
                      <a:pPr algn="ctr"/>
                      <a:r>
                        <a:rPr lang="en-US" sz="1300">
                          <a:solidFill>
                            <a:srgbClr val="111827"/>
                          </a:solidFill>
                          <a:latin typeface="Arial"/>
                        </a:rPr>
                        <a:t>0.797</a:t>
                      </a:r>
                    </a:p>
                  </a:txBody>
                  <a:tcPr marL="82296" marR="82296" marT="27432" marB="27432" anchor="ctr">
                    <a:noFill/>
                  </a:tcPr>
                </a:tc>
                <a:tc>
                  <a:txBody>
                    <a:bodyPr/>
                    <a:lstStyle/>
                    <a:p>
                      <a:pPr algn="ctr"/>
                      <a:r>
                        <a:rPr lang="en-US" sz="1300" dirty="0">
                          <a:solidFill>
                            <a:srgbClr val="6B7280"/>
                          </a:solidFill>
                          <a:latin typeface="Arial"/>
                        </a:rPr>
                        <a:t>+0.8 %</a:t>
                      </a:r>
                    </a:p>
                  </a:txBody>
                  <a:tcPr marL="82296" marR="82296" marT="27432" marB="27432" anchor="ctr">
                    <a:noFill/>
                  </a:tcPr>
                </a:tc>
                <a:extLst>
                  <a:ext uri="{0D108BD9-81ED-4DB2-BD59-A6C34878D82A}">
                    <a16:rowId xmlns:a16="http://schemas.microsoft.com/office/drawing/2014/main" val="10002"/>
                  </a:ext>
                </a:extLst>
              </a:tr>
              <a:tr h="300000">
                <a:tc>
                  <a:txBody>
                    <a:bodyPr/>
                    <a:lstStyle/>
                    <a:p>
                      <a:pPr algn="l"/>
                      <a:r>
                        <a:rPr lang="en-US" sz="1300" b="1">
                          <a:solidFill>
                            <a:srgbClr val="111827"/>
                          </a:solidFill>
                          <a:latin typeface="Arial"/>
                        </a:rPr>
                        <a:t>Total-static efficiency</a:t>
                      </a:r>
                    </a:p>
                  </a:txBody>
                  <a:tcPr marL="82296" marR="82296" marT="27432" marB="27432" anchor="ctr">
                    <a:noFill/>
                  </a:tcPr>
                </a:tc>
                <a:tc>
                  <a:txBody>
                    <a:bodyPr/>
                    <a:lstStyle/>
                    <a:p>
                      <a:pPr algn="ctr"/>
                      <a:r>
                        <a:rPr lang="en-US" sz="1300">
                          <a:solidFill>
                            <a:srgbClr val="111827"/>
                          </a:solidFill>
                          <a:latin typeface="Arial"/>
                        </a:rPr>
                        <a:t>0.338</a:t>
                      </a:r>
                    </a:p>
                  </a:txBody>
                  <a:tcPr marL="82296" marR="82296" marT="27432" marB="27432" anchor="ctr">
                    <a:noFill/>
                  </a:tcPr>
                </a:tc>
                <a:tc>
                  <a:txBody>
                    <a:bodyPr/>
                    <a:lstStyle/>
                    <a:p>
                      <a:pPr algn="ctr"/>
                      <a:r>
                        <a:rPr lang="en-US" sz="1300">
                          <a:solidFill>
                            <a:srgbClr val="111827"/>
                          </a:solidFill>
                          <a:latin typeface="Arial"/>
                        </a:rPr>
                        <a:t>0.334</a:t>
                      </a:r>
                    </a:p>
                  </a:txBody>
                  <a:tcPr marL="82296" marR="82296" marT="27432" marB="27432" anchor="ctr">
                    <a:noFill/>
                  </a:tcPr>
                </a:tc>
                <a:tc>
                  <a:txBody>
                    <a:bodyPr/>
                    <a:lstStyle/>
                    <a:p>
                      <a:pPr algn="ctr"/>
                      <a:r>
                        <a:rPr lang="en-US" sz="1300">
                          <a:solidFill>
                            <a:srgbClr val="6B7280"/>
                          </a:solidFill>
                          <a:latin typeface="Arial"/>
                        </a:rPr>
                        <a:t>+1.3 %</a:t>
                      </a:r>
                    </a:p>
                  </a:txBody>
                  <a:tcPr marL="82296" marR="82296" marT="27432" marB="27432" anchor="ctr">
                    <a:noFill/>
                  </a:tcPr>
                </a:tc>
                <a:extLst>
                  <a:ext uri="{0D108BD9-81ED-4DB2-BD59-A6C34878D82A}">
                    <a16:rowId xmlns:a16="http://schemas.microsoft.com/office/drawing/2014/main" val="10003"/>
                  </a:ext>
                </a:extLst>
              </a:tr>
              <a:tr h="300000">
                <a:tc>
                  <a:txBody>
                    <a:bodyPr/>
                    <a:lstStyle/>
                    <a:p>
                      <a:pPr algn="l"/>
                      <a:r>
                        <a:rPr lang="en-US" sz="1300" b="1">
                          <a:solidFill>
                            <a:srgbClr val="111827"/>
                          </a:solidFill>
                          <a:latin typeface="Arial"/>
                        </a:rPr>
                        <a:t>Total mass flow [kg/s]</a:t>
                      </a:r>
                    </a:p>
                  </a:txBody>
                  <a:tcPr marL="82296" marR="82296" marT="27432" marB="27432" anchor="ctr">
                    <a:noFill/>
                  </a:tcPr>
                </a:tc>
                <a:tc>
                  <a:txBody>
                    <a:bodyPr/>
                    <a:lstStyle/>
                    <a:p>
                      <a:pPr algn="ctr"/>
                      <a:r>
                        <a:rPr lang="en-US" sz="1300">
                          <a:solidFill>
                            <a:srgbClr val="111827"/>
                          </a:solidFill>
                          <a:latin typeface="Arial"/>
                        </a:rPr>
                        <a:t>0.299</a:t>
                      </a:r>
                    </a:p>
                  </a:txBody>
                  <a:tcPr marL="82296" marR="82296" marT="27432" marB="27432" anchor="ctr">
                    <a:noFill/>
                  </a:tcPr>
                </a:tc>
                <a:tc>
                  <a:txBody>
                    <a:bodyPr/>
                    <a:lstStyle/>
                    <a:p>
                      <a:pPr algn="ctr"/>
                      <a:r>
                        <a:rPr lang="en-US" sz="1300">
                          <a:solidFill>
                            <a:srgbClr val="111827"/>
                          </a:solidFill>
                          <a:latin typeface="Arial"/>
                        </a:rPr>
                        <a:t>0.292</a:t>
                      </a:r>
                    </a:p>
                  </a:txBody>
                  <a:tcPr marL="82296" marR="82296" marT="27432" marB="27432" anchor="ctr">
                    <a:noFill/>
                  </a:tcPr>
                </a:tc>
                <a:tc>
                  <a:txBody>
                    <a:bodyPr/>
                    <a:lstStyle/>
                    <a:p>
                      <a:pPr algn="ctr"/>
                      <a:r>
                        <a:rPr lang="en-US" sz="1300">
                          <a:solidFill>
                            <a:srgbClr val="6B7280"/>
                          </a:solidFill>
                          <a:latin typeface="Arial"/>
                        </a:rPr>
                        <a:t>+2.2 %</a:t>
                      </a:r>
                    </a:p>
                  </a:txBody>
                  <a:tcPr marL="82296" marR="82296" marT="27432" marB="27432" anchor="ctr">
                    <a:noFill/>
                  </a:tcPr>
                </a:tc>
                <a:extLst>
                  <a:ext uri="{0D108BD9-81ED-4DB2-BD59-A6C34878D82A}">
                    <a16:rowId xmlns:a16="http://schemas.microsoft.com/office/drawing/2014/main" val="10004"/>
                  </a:ext>
                </a:extLst>
              </a:tr>
              <a:tr h="300000">
                <a:tc>
                  <a:txBody>
                    <a:bodyPr/>
                    <a:lstStyle/>
                    <a:p>
                      <a:pPr algn="l"/>
                      <a:r>
                        <a:rPr lang="en-US" sz="1300" b="1">
                          <a:solidFill>
                            <a:srgbClr val="111827"/>
                          </a:solidFill>
                          <a:latin typeface="Arial"/>
                        </a:rPr>
                        <a:t>Enthalpy power [kW]</a:t>
                      </a:r>
                    </a:p>
                  </a:txBody>
                  <a:tcPr marL="82296" marR="82296" marT="27432" marB="27432" anchor="ctr">
                    <a:noFill/>
                  </a:tcPr>
                </a:tc>
                <a:tc>
                  <a:txBody>
                    <a:bodyPr/>
                    <a:lstStyle/>
                    <a:p>
                      <a:pPr algn="ctr"/>
                      <a:r>
                        <a:rPr lang="en-US" sz="1300">
                          <a:solidFill>
                            <a:srgbClr val="111827"/>
                          </a:solidFill>
                          <a:latin typeface="Arial"/>
                        </a:rPr>
                        <a:t>23.23</a:t>
                      </a:r>
                    </a:p>
                  </a:txBody>
                  <a:tcPr marL="82296" marR="82296" marT="27432" marB="27432" anchor="ctr">
                    <a:noFill/>
                  </a:tcPr>
                </a:tc>
                <a:tc>
                  <a:txBody>
                    <a:bodyPr/>
                    <a:lstStyle/>
                    <a:p>
                      <a:pPr algn="ctr"/>
                      <a:r>
                        <a:rPr lang="en-US" sz="1300">
                          <a:solidFill>
                            <a:srgbClr val="111827"/>
                          </a:solidFill>
                          <a:latin typeface="Arial"/>
                        </a:rPr>
                        <a:t>22.45</a:t>
                      </a:r>
                    </a:p>
                  </a:txBody>
                  <a:tcPr marL="82296" marR="82296" marT="27432" marB="27432" anchor="ctr">
                    <a:noFill/>
                  </a:tcPr>
                </a:tc>
                <a:tc>
                  <a:txBody>
                    <a:bodyPr/>
                    <a:lstStyle/>
                    <a:p>
                      <a:pPr algn="ctr"/>
                      <a:r>
                        <a:rPr lang="en-US" sz="1300">
                          <a:solidFill>
                            <a:srgbClr val="6B7280"/>
                          </a:solidFill>
                          <a:latin typeface="Arial"/>
                        </a:rPr>
                        <a:t>+3.5 %</a:t>
                      </a:r>
                    </a:p>
                  </a:txBody>
                  <a:tcPr marL="82296" marR="82296" marT="27432" marB="27432" anchor="ctr">
                    <a:noFill/>
                  </a:tcPr>
                </a:tc>
                <a:extLst>
                  <a:ext uri="{0D108BD9-81ED-4DB2-BD59-A6C34878D82A}">
                    <a16:rowId xmlns:a16="http://schemas.microsoft.com/office/drawing/2014/main" val="10005"/>
                  </a:ext>
                </a:extLst>
              </a:tr>
              <a:tr h="300000">
                <a:tc>
                  <a:txBody>
                    <a:bodyPr/>
                    <a:lstStyle/>
                    <a:p>
                      <a:pPr algn="l"/>
                      <a:r>
                        <a:rPr lang="en-US" sz="1300" b="1">
                          <a:solidFill>
                            <a:srgbClr val="111827"/>
                          </a:solidFill>
                          <a:latin typeface="Arial"/>
                        </a:rPr>
                        <a:t>Euler power [kW]</a:t>
                      </a:r>
                    </a:p>
                  </a:txBody>
                  <a:tcPr marL="82296" marR="82296" marT="27432" marB="27432" anchor="ctr">
                    <a:noFill/>
                  </a:tcPr>
                </a:tc>
                <a:tc>
                  <a:txBody>
                    <a:bodyPr/>
                    <a:lstStyle/>
                    <a:p>
                      <a:pPr algn="ctr"/>
                      <a:r>
                        <a:rPr lang="en-US" sz="1300">
                          <a:solidFill>
                            <a:srgbClr val="111827"/>
                          </a:solidFill>
                          <a:latin typeface="Arial"/>
                        </a:rPr>
                        <a:t>23.23</a:t>
                      </a:r>
                    </a:p>
                  </a:txBody>
                  <a:tcPr marL="82296" marR="82296" marT="27432" marB="27432" anchor="ctr">
                    <a:noFill/>
                  </a:tcPr>
                </a:tc>
                <a:tc>
                  <a:txBody>
                    <a:bodyPr/>
                    <a:lstStyle/>
                    <a:p>
                      <a:pPr algn="ctr"/>
                      <a:r>
                        <a:rPr lang="en-US" sz="1300">
                          <a:solidFill>
                            <a:srgbClr val="111827"/>
                          </a:solidFill>
                          <a:latin typeface="Arial"/>
                        </a:rPr>
                        <a:t>22.46</a:t>
                      </a:r>
                    </a:p>
                  </a:txBody>
                  <a:tcPr marL="82296" marR="82296" marT="27432" marB="27432" anchor="ctr">
                    <a:noFill/>
                  </a:tcPr>
                </a:tc>
                <a:tc>
                  <a:txBody>
                    <a:bodyPr/>
                    <a:lstStyle/>
                    <a:p>
                      <a:pPr algn="ctr"/>
                      <a:r>
                        <a:rPr lang="en-US" sz="1300">
                          <a:solidFill>
                            <a:srgbClr val="6B7280"/>
                          </a:solidFill>
                          <a:latin typeface="Arial"/>
                        </a:rPr>
                        <a:t>+3.5 %</a:t>
                      </a:r>
                    </a:p>
                  </a:txBody>
                  <a:tcPr marL="82296" marR="82296" marT="27432" marB="27432" anchor="ctr">
                    <a:noFill/>
                  </a:tcPr>
                </a:tc>
                <a:extLst>
                  <a:ext uri="{0D108BD9-81ED-4DB2-BD59-A6C34878D82A}">
                    <a16:rowId xmlns:a16="http://schemas.microsoft.com/office/drawing/2014/main" val="10006"/>
                  </a:ext>
                </a:extLst>
              </a:tr>
              <a:tr h="300000">
                <a:tc>
                  <a:txBody>
                    <a:bodyPr/>
                    <a:lstStyle/>
                    <a:p>
                      <a:pPr algn="l"/>
                      <a:r>
                        <a:rPr lang="en-US" sz="1300" b="1">
                          <a:solidFill>
                            <a:srgbClr val="111827"/>
                          </a:solidFill>
                          <a:latin typeface="Arial"/>
                        </a:rPr>
                        <a:t>T₀ inlet [K]</a:t>
                      </a:r>
                    </a:p>
                  </a:txBody>
                  <a:tcPr marL="82296" marR="82296" marT="27432" marB="27432" anchor="ctr">
                    <a:noFill/>
                  </a:tcPr>
                </a:tc>
                <a:tc>
                  <a:txBody>
                    <a:bodyPr/>
                    <a:lstStyle/>
                    <a:p>
                      <a:pPr algn="ctr"/>
                      <a:r>
                        <a:rPr lang="en-US" sz="1300">
                          <a:solidFill>
                            <a:srgbClr val="111827"/>
                          </a:solidFill>
                          <a:latin typeface="Arial"/>
                        </a:rPr>
                        <a:t>1222.9</a:t>
                      </a:r>
                    </a:p>
                  </a:txBody>
                  <a:tcPr marL="82296" marR="82296" marT="27432" marB="27432" anchor="ctr">
                    <a:noFill/>
                  </a:tcPr>
                </a:tc>
                <a:tc>
                  <a:txBody>
                    <a:bodyPr/>
                    <a:lstStyle/>
                    <a:p>
                      <a:pPr algn="ctr"/>
                      <a:r>
                        <a:rPr lang="en-US" sz="1300">
                          <a:solidFill>
                            <a:srgbClr val="111827"/>
                          </a:solidFill>
                          <a:latin typeface="Arial"/>
                        </a:rPr>
                        <a:t>1222.9</a:t>
                      </a:r>
                    </a:p>
                  </a:txBody>
                  <a:tcPr marL="82296" marR="82296" marT="27432" marB="27432" anchor="ctr">
                    <a:noFill/>
                  </a:tcPr>
                </a:tc>
                <a:tc>
                  <a:txBody>
                    <a:bodyPr/>
                    <a:lstStyle/>
                    <a:p>
                      <a:pPr algn="ctr"/>
                      <a:r>
                        <a:rPr lang="en-US" sz="1300">
                          <a:solidFill>
                            <a:srgbClr val="6B7280"/>
                          </a:solidFill>
                          <a:latin typeface="Arial"/>
                        </a:rPr>
                        <a:t>0.0 %</a:t>
                      </a:r>
                    </a:p>
                  </a:txBody>
                  <a:tcPr marL="82296" marR="82296" marT="27432" marB="27432" anchor="ctr">
                    <a:noFill/>
                  </a:tcPr>
                </a:tc>
                <a:extLst>
                  <a:ext uri="{0D108BD9-81ED-4DB2-BD59-A6C34878D82A}">
                    <a16:rowId xmlns:a16="http://schemas.microsoft.com/office/drawing/2014/main" val="10007"/>
                  </a:ext>
                </a:extLst>
              </a:tr>
              <a:tr h="300000">
                <a:tc>
                  <a:txBody>
                    <a:bodyPr/>
                    <a:lstStyle/>
                    <a:p>
                      <a:pPr algn="l"/>
                      <a:r>
                        <a:rPr lang="en-US" sz="1300" b="1">
                          <a:solidFill>
                            <a:srgbClr val="111827"/>
                          </a:solidFill>
                          <a:latin typeface="Arial"/>
                        </a:rPr>
                        <a:t>T₀ exit mean [K]</a:t>
                      </a:r>
                    </a:p>
                  </a:txBody>
                  <a:tcPr marL="82296" marR="82296" marT="27432" marB="27432" anchor="ctr">
                    <a:noFill/>
                  </a:tcPr>
                </a:tc>
                <a:tc>
                  <a:txBody>
                    <a:bodyPr/>
                    <a:lstStyle/>
                    <a:p>
                      <a:pPr algn="ctr"/>
                      <a:r>
                        <a:rPr lang="en-US" sz="1300">
                          <a:solidFill>
                            <a:srgbClr val="111827"/>
                          </a:solidFill>
                          <a:latin typeface="Arial"/>
                        </a:rPr>
                        <a:t>1152.6</a:t>
                      </a:r>
                    </a:p>
                  </a:txBody>
                  <a:tcPr marL="82296" marR="82296" marT="27432" marB="27432" anchor="ctr">
                    <a:noFill/>
                  </a:tcPr>
                </a:tc>
                <a:tc>
                  <a:txBody>
                    <a:bodyPr/>
                    <a:lstStyle/>
                    <a:p>
                      <a:pPr algn="ctr"/>
                      <a:r>
                        <a:rPr lang="en-US" sz="1300">
                          <a:solidFill>
                            <a:srgbClr val="111827"/>
                          </a:solidFill>
                          <a:latin typeface="Arial"/>
                        </a:rPr>
                        <a:t>1174.1</a:t>
                      </a:r>
                    </a:p>
                  </a:txBody>
                  <a:tcPr marL="82296" marR="82296" marT="27432" marB="27432" anchor="ctr">
                    <a:noFill/>
                  </a:tcPr>
                </a:tc>
                <a:tc>
                  <a:txBody>
                    <a:bodyPr/>
                    <a:lstStyle/>
                    <a:p>
                      <a:pPr algn="ctr"/>
                      <a:r>
                        <a:rPr lang="en-US" sz="1300">
                          <a:solidFill>
                            <a:srgbClr val="6B7280"/>
                          </a:solidFill>
                          <a:latin typeface="Arial"/>
                        </a:rPr>
                        <a:t>−1.8 %</a:t>
                      </a:r>
                    </a:p>
                  </a:txBody>
                  <a:tcPr marL="82296" marR="82296" marT="27432" marB="27432" anchor="ctr">
                    <a:noFill/>
                  </a:tcPr>
                </a:tc>
                <a:extLst>
                  <a:ext uri="{0D108BD9-81ED-4DB2-BD59-A6C34878D82A}">
                    <a16:rowId xmlns:a16="http://schemas.microsoft.com/office/drawing/2014/main" val="10008"/>
                  </a:ext>
                </a:extLst>
              </a:tr>
              <a:tr h="300000">
                <a:tc>
                  <a:txBody>
                    <a:bodyPr/>
                    <a:lstStyle/>
                    <a:p>
                      <a:pPr algn="l"/>
                      <a:r>
                        <a:rPr lang="en-US" sz="1300" b="1">
                          <a:solidFill>
                            <a:srgbClr val="111827"/>
                          </a:solidFill>
                          <a:latin typeface="Arial"/>
                        </a:rPr>
                        <a:t>P₀ inlet [Pa]</a:t>
                      </a:r>
                    </a:p>
                  </a:txBody>
                  <a:tcPr marL="82296" marR="82296" marT="27432" marB="27432" anchor="ctr">
                    <a:noFill/>
                  </a:tcPr>
                </a:tc>
                <a:tc>
                  <a:txBody>
                    <a:bodyPr/>
                    <a:lstStyle/>
                    <a:p>
                      <a:pPr algn="ctr"/>
                      <a:r>
                        <a:rPr lang="en-US" sz="1300">
                          <a:solidFill>
                            <a:srgbClr val="111827"/>
                          </a:solidFill>
                          <a:latin typeface="Arial"/>
                        </a:rPr>
                        <a:t>536,657</a:t>
                      </a:r>
                    </a:p>
                  </a:txBody>
                  <a:tcPr marL="82296" marR="82296" marT="27432" marB="27432" anchor="ctr">
                    <a:noFill/>
                  </a:tcPr>
                </a:tc>
                <a:tc>
                  <a:txBody>
                    <a:bodyPr/>
                    <a:lstStyle/>
                    <a:p>
                      <a:pPr algn="ctr"/>
                      <a:r>
                        <a:rPr lang="en-US" sz="1300">
                          <a:solidFill>
                            <a:srgbClr val="111827"/>
                          </a:solidFill>
                          <a:latin typeface="Arial"/>
                        </a:rPr>
                        <a:t>536,657</a:t>
                      </a:r>
                    </a:p>
                  </a:txBody>
                  <a:tcPr marL="82296" marR="82296" marT="27432" marB="27432" anchor="ctr">
                    <a:noFill/>
                  </a:tcPr>
                </a:tc>
                <a:tc>
                  <a:txBody>
                    <a:bodyPr/>
                    <a:lstStyle/>
                    <a:p>
                      <a:pPr algn="ctr"/>
                      <a:r>
                        <a:rPr lang="en-US" sz="1300">
                          <a:solidFill>
                            <a:srgbClr val="6B7280"/>
                          </a:solidFill>
                          <a:latin typeface="Arial"/>
                        </a:rPr>
                        <a:t>0.0 %</a:t>
                      </a:r>
                    </a:p>
                  </a:txBody>
                  <a:tcPr marL="82296" marR="82296" marT="27432" marB="27432" anchor="ctr">
                    <a:noFill/>
                  </a:tcPr>
                </a:tc>
                <a:extLst>
                  <a:ext uri="{0D108BD9-81ED-4DB2-BD59-A6C34878D82A}">
                    <a16:rowId xmlns:a16="http://schemas.microsoft.com/office/drawing/2014/main" val="10009"/>
                  </a:ext>
                </a:extLst>
              </a:tr>
              <a:tr h="300000">
                <a:tc>
                  <a:txBody>
                    <a:bodyPr/>
                    <a:lstStyle/>
                    <a:p>
                      <a:pPr algn="l"/>
                      <a:r>
                        <a:rPr lang="en-US" sz="1300" b="1">
                          <a:solidFill>
                            <a:srgbClr val="111827"/>
                          </a:solidFill>
                          <a:latin typeface="Arial"/>
                        </a:rPr>
                        <a:t>P₀ exit mean [Pa]</a:t>
                      </a:r>
                    </a:p>
                  </a:txBody>
                  <a:tcPr marL="82296" marR="82296" marT="27432" marB="27432" anchor="ctr">
                    <a:noFill/>
                  </a:tcPr>
                </a:tc>
                <a:tc>
                  <a:txBody>
                    <a:bodyPr/>
                    <a:lstStyle/>
                    <a:p>
                      <a:pPr algn="ctr"/>
                      <a:r>
                        <a:rPr lang="en-US" sz="1300">
                          <a:solidFill>
                            <a:srgbClr val="111827"/>
                          </a:solidFill>
                          <a:latin typeface="Arial"/>
                        </a:rPr>
                        <a:t>427,458</a:t>
                      </a:r>
                    </a:p>
                  </a:txBody>
                  <a:tcPr marL="82296" marR="82296" marT="27432" marB="27432" anchor="ctr">
                    <a:noFill/>
                  </a:tcPr>
                </a:tc>
                <a:tc>
                  <a:txBody>
                    <a:bodyPr/>
                    <a:lstStyle/>
                    <a:p>
                      <a:pPr algn="ctr"/>
                      <a:r>
                        <a:rPr lang="en-US" sz="1300">
                          <a:solidFill>
                            <a:srgbClr val="111827"/>
                          </a:solidFill>
                          <a:latin typeface="Arial"/>
                        </a:rPr>
                        <a:t>428,240</a:t>
                      </a:r>
                    </a:p>
                  </a:txBody>
                  <a:tcPr marL="82296" marR="82296" marT="27432" marB="27432" anchor="ctr">
                    <a:noFill/>
                  </a:tcPr>
                </a:tc>
                <a:tc>
                  <a:txBody>
                    <a:bodyPr/>
                    <a:lstStyle/>
                    <a:p>
                      <a:pPr algn="ctr"/>
                      <a:r>
                        <a:rPr lang="en-US" sz="1300">
                          <a:solidFill>
                            <a:srgbClr val="6B7280"/>
                          </a:solidFill>
                          <a:latin typeface="Arial"/>
                        </a:rPr>
                        <a:t>−0.2 %</a:t>
                      </a:r>
                    </a:p>
                  </a:txBody>
                  <a:tcPr marL="82296" marR="82296" marT="27432" marB="27432" anchor="ctr">
                    <a:noFill/>
                  </a:tcPr>
                </a:tc>
                <a:extLst>
                  <a:ext uri="{0D108BD9-81ED-4DB2-BD59-A6C34878D82A}">
                    <a16:rowId xmlns:a16="http://schemas.microsoft.com/office/drawing/2014/main" val="10010"/>
                  </a:ext>
                </a:extLst>
              </a:tr>
              <a:tr h="300000">
                <a:tc>
                  <a:txBody>
                    <a:bodyPr/>
                    <a:lstStyle/>
                    <a:p>
                      <a:pPr algn="l"/>
                      <a:r>
                        <a:rPr lang="en-US" sz="1300" b="1">
                          <a:solidFill>
                            <a:srgbClr val="111827"/>
                          </a:solidFill>
                          <a:latin typeface="Arial"/>
                        </a:rPr>
                        <a:t>β₁ avg [deg]</a:t>
                      </a:r>
                    </a:p>
                  </a:txBody>
                  <a:tcPr marL="82296" marR="82296" marT="27432" marB="27432" anchor="ctr">
                    <a:noFill/>
                  </a:tcPr>
                </a:tc>
                <a:tc>
                  <a:txBody>
                    <a:bodyPr/>
                    <a:lstStyle/>
                    <a:p>
                      <a:pPr algn="ctr"/>
                      <a:r>
                        <a:rPr lang="en-US" sz="1300">
                          <a:solidFill>
                            <a:srgbClr val="111827"/>
                          </a:solidFill>
                          <a:latin typeface="Arial"/>
                        </a:rPr>
                        <a:t>0.01</a:t>
                      </a:r>
                    </a:p>
                  </a:txBody>
                  <a:tcPr marL="82296" marR="82296" marT="27432" marB="27432" anchor="ctr">
                    <a:noFill/>
                  </a:tcPr>
                </a:tc>
                <a:tc>
                  <a:txBody>
                    <a:bodyPr/>
                    <a:lstStyle/>
                    <a:p>
                      <a:pPr algn="ctr"/>
                      <a:r>
                        <a:rPr lang="en-US" sz="1300">
                          <a:solidFill>
                            <a:srgbClr val="111827"/>
                          </a:solidFill>
                          <a:latin typeface="Arial"/>
                        </a:rPr>
                        <a:t>0.12</a:t>
                      </a:r>
                    </a:p>
                  </a:txBody>
                  <a:tcPr marL="82296" marR="82296" marT="27432" marB="27432" anchor="ctr">
                    <a:noFill/>
                  </a:tcPr>
                </a:tc>
                <a:tc>
                  <a:txBody>
                    <a:bodyPr/>
                    <a:lstStyle/>
                    <a:p>
                      <a:pPr algn="ctr"/>
                      <a:r>
                        <a:rPr lang="en-US" sz="1300">
                          <a:solidFill>
                            <a:srgbClr val="6B7280"/>
                          </a:solidFill>
                          <a:latin typeface="Arial"/>
                        </a:rPr>
                        <a:t>~0 %</a:t>
                      </a:r>
                    </a:p>
                  </a:txBody>
                  <a:tcPr marL="82296" marR="82296" marT="27432" marB="27432" anchor="ctr">
                    <a:noFill/>
                  </a:tcPr>
                </a:tc>
                <a:extLst>
                  <a:ext uri="{0D108BD9-81ED-4DB2-BD59-A6C34878D82A}">
                    <a16:rowId xmlns:a16="http://schemas.microsoft.com/office/drawing/2014/main" val="10011"/>
                  </a:ext>
                </a:extLst>
              </a:tr>
              <a:tr h="300000">
                <a:tc>
                  <a:txBody>
                    <a:bodyPr/>
                    <a:lstStyle/>
                    <a:p>
                      <a:pPr algn="l"/>
                      <a:r>
                        <a:rPr lang="en-US" sz="1300" b="1">
                          <a:solidFill>
                            <a:srgbClr val="111827"/>
                          </a:solidFill>
                          <a:latin typeface="Arial"/>
                        </a:rPr>
                        <a:t>β₂ avg [deg]</a:t>
                      </a:r>
                    </a:p>
                  </a:txBody>
                  <a:tcPr marL="82296" marR="82296" marT="27432" marB="27432" anchor="ctr">
                    <a:noFill/>
                  </a:tcPr>
                </a:tc>
                <a:tc>
                  <a:txBody>
                    <a:bodyPr/>
                    <a:lstStyle/>
                    <a:p>
                      <a:pPr algn="ctr"/>
                      <a:r>
                        <a:rPr lang="en-US" sz="1300">
                          <a:solidFill>
                            <a:srgbClr val="111827"/>
                          </a:solidFill>
                          <a:latin typeface="Arial"/>
                        </a:rPr>
                        <a:t>51.2</a:t>
                      </a:r>
                    </a:p>
                  </a:txBody>
                  <a:tcPr marL="82296" marR="82296" marT="27432" marB="27432" anchor="ctr">
                    <a:noFill/>
                  </a:tcPr>
                </a:tc>
                <a:tc>
                  <a:txBody>
                    <a:bodyPr/>
                    <a:lstStyle/>
                    <a:p>
                      <a:pPr algn="ctr"/>
                      <a:r>
                        <a:rPr lang="en-US" sz="1300">
                          <a:solidFill>
                            <a:srgbClr val="111827"/>
                          </a:solidFill>
                          <a:latin typeface="Arial"/>
                        </a:rPr>
                        <a:t>51.7</a:t>
                      </a:r>
                    </a:p>
                  </a:txBody>
                  <a:tcPr marL="82296" marR="82296" marT="27432" marB="27432" anchor="ctr">
                    <a:noFill/>
                  </a:tcPr>
                </a:tc>
                <a:tc>
                  <a:txBody>
                    <a:bodyPr/>
                    <a:lstStyle/>
                    <a:p>
                      <a:pPr algn="ctr"/>
                      <a:r>
                        <a:rPr lang="en-US" sz="1300" dirty="0">
                          <a:solidFill>
                            <a:srgbClr val="6B7280"/>
                          </a:solidFill>
                          <a:latin typeface="Arial"/>
                        </a:rPr>
                        <a:t>−1.0 %</a:t>
                      </a:r>
                    </a:p>
                  </a:txBody>
                  <a:tcPr marL="82296" marR="82296" marT="27432" marB="27432" anchor="ctr">
                    <a:noFill/>
                  </a:tcPr>
                </a:tc>
                <a:extLst>
                  <a:ext uri="{0D108BD9-81ED-4DB2-BD59-A6C34878D82A}">
                    <a16:rowId xmlns:a16="http://schemas.microsoft.com/office/drawing/2014/main" val="10012"/>
                  </a:ext>
                </a:extLst>
              </a:tr>
            </a:tbl>
          </a:graphicData>
        </a:graphic>
      </p:graphicFrame>
      <p:sp>
        <p:nvSpPr>
          <p:cNvPr id="601" name="Radial note"/>
          <p:cNvSpPr/>
          <p:nvPr/>
        </p:nvSpPr>
        <p:spPr>
          <a:xfrm>
            <a:off x="640080" y="6010000"/>
            <a:ext cx="10881360" cy="330000"/>
          </a:xfrm>
          <a:prstGeom prst="rect">
            <a:avLst/>
          </a:prstGeom>
          <a:noFill/>
        </p:spPr>
        <p:txBody>
          <a:bodyPr wrap="square" lIns="0" tIns="0" rIns="0" bIns="0" anchor="ctr"/>
          <a:lstStyle/>
          <a:p>
            <a:pPr algn="l">
              <a:buNone/>
            </a:pPr>
            <a:r>
              <a:rPr lang="en-US" sz="1100" i="1">
                <a:solidFill>
                  <a:srgbClr val="6B7280"/>
                </a:solidFill>
                <a:latin typeface="Arial"/>
              </a:rPr>
              <a:t>Single-rotor radial turbine, γ = 1.35. Pressure loss coefficient Yp = 0.136 prescribed from CFD.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40080"/>
            <a:ext cx="2743200" cy="274320"/>
          </a:xfrm>
          <a:prstGeom prst="rect">
            <a:avLst/>
          </a:prstGeom>
          <a:noFill/>
          <a:ln/>
        </p:spPr>
        <p:txBody>
          <a:bodyPr wrap="square" lIns="0" tIns="0" rIns="0" bIns="0" rtlCol="0" anchor="t"/>
          <a:lstStyle/>
          <a:p>
            <a:pPr marL="0" indent="0" algn="l">
              <a:buNone/>
            </a:pPr>
            <a:r>
              <a:rPr lang="en-US" sz="1000" kern="0" spc="400" dirty="0">
                <a:solidFill>
                  <a:srgbClr val="6B7280"/>
                </a:solidFill>
                <a:latin typeface="Arial" pitchFamily="34" charset="0"/>
                <a:ea typeface="Arial" pitchFamily="34" charset="-122"/>
                <a:cs typeface="Arial" pitchFamily="34" charset="-120"/>
              </a:rPr>
              <a:t>12 · CONCLUSIONS</a:t>
            </a:r>
            <a:endParaRPr lang="en-US" sz="1000" dirty="0"/>
          </a:p>
        </p:txBody>
      </p:sp>
      <p:sp>
        <p:nvSpPr>
          <p:cNvPr id="3" name="Text 1"/>
          <p:cNvSpPr/>
          <p:nvPr/>
        </p:nvSpPr>
        <p:spPr>
          <a:xfrm>
            <a:off x="640080" y="960120"/>
            <a:ext cx="10881360" cy="640080"/>
          </a:xfrm>
          <a:prstGeom prst="rect">
            <a:avLst/>
          </a:prstGeom>
          <a:noFill/>
          <a:ln/>
        </p:spPr>
        <p:txBody>
          <a:bodyPr wrap="square" lIns="0" tIns="0" rIns="0" bIns="0" rtlCol="0" anchor="t"/>
          <a:lstStyle/>
          <a:p>
            <a:pPr marL="0" indent="0" algn="l">
              <a:buNone/>
            </a:pPr>
            <a:r>
              <a:rPr lang="en-US" sz="2500" b="1" dirty="0">
                <a:solidFill>
                  <a:srgbClr val="111111"/>
                </a:solidFill>
                <a:latin typeface="Arial" pitchFamily="34" charset="0"/>
                <a:ea typeface="Arial" pitchFamily="34" charset="-122"/>
                <a:cs typeface="Arial" pitchFamily="34" charset="-120"/>
              </a:rPr>
              <a:t>Conclusions</a:t>
            </a:r>
            <a:endParaRPr lang="en-US" sz="2500" dirty="0"/>
          </a:p>
        </p:txBody>
      </p:sp>
      <p:sp>
        <p:nvSpPr>
          <p:cNvPr id="4" name="Shape 2"/>
          <p:cNvSpPr/>
          <p:nvPr/>
        </p:nvSpPr>
        <p:spPr>
          <a:xfrm>
            <a:off x="640080" y="1691640"/>
            <a:ext cx="10881360" cy="0"/>
          </a:xfrm>
          <a:prstGeom prst="line">
            <a:avLst/>
          </a:prstGeom>
          <a:noFill/>
          <a:ln w="6350">
            <a:solidFill>
              <a:srgbClr val="D1D5DB"/>
            </a:solidFill>
            <a:prstDash val="solid"/>
          </a:ln>
        </p:spPr>
        <p:txBody>
          <a:bodyPr/>
          <a:lstStyle/>
          <a:p>
            <a:endParaRPr lang="en-US"/>
          </a:p>
        </p:txBody>
      </p:sp>
      <p:sp>
        <p:nvSpPr>
          <p:cNvPr id="5" name="Text 3"/>
          <p:cNvSpPr/>
          <p:nvPr/>
        </p:nvSpPr>
        <p:spPr>
          <a:xfrm>
            <a:off x="640080" y="1828800"/>
            <a:ext cx="516636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Summary</a:t>
            </a:r>
            <a:endParaRPr lang="en-US" sz="1800" dirty="0"/>
          </a:p>
        </p:txBody>
      </p:sp>
      <p:sp>
        <p:nvSpPr>
          <p:cNvPr id="6" name="Text 4"/>
          <p:cNvSpPr/>
          <p:nvPr/>
        </p:nvSpPr>
        <p:spPr>
          <a:xfrm>
            <a:off x="640080" y="2331720"/>
            <a:ext cx="5166360" cy="2286000"/>
          </a:xfrm>
          <a:prstGeom prst="rect">
            <a:avLst/>
          </a:prstGeom>
          <a:noFill/>
          <a:ln/>
        </p:spPr>
        <p:txBody>
          <a:bodyPr wrap="square" lIns="0" tIns="0" rIns="0" bIns="0" rtlCol="0" anchor="t"/>
          <a:lstStyle/>
          <a:p>
            <a:pPr marL="0" indent="0" algn="l">
              <a:spcAft>
                <a:spcPts val="600"/>
              </a:spcAft>
              <a:buNone/>
            </a:pPr>
            <a:r>
              <a:rPr lang="en-US" sz="1400" dirty="0">
                <a:solidFill>
                  <a:srgbClr val="111111"/>
                </a:solidFill>
                <a:latin typeface="Arial" pitchFamily="34" charset="0"/>
                <a:ea typeface="Arial" pitchFamily="34" charset="-122"/>
                <a:cs typeface="Arial" pitchFamily="34" charset="-120"/>
              </a:rPr>
              <a:t>Turbo-Design is an open-source Python radial equilibrium solver that replaces the legacy Fortran codes TD2 and AXOD2. The governing equations are derived from first principles, retaining the meridional curvature terms required for radial machines. Axial and radial turbines are handled with a unified formulation. The solver was validated against CFD for the NASA EEE two-stage HPT and an internally developed radial turbine, with agreement within 2% on mass flow and efficiency when supplied with CFD-measured loss coefficients.</a:t>
            </a:r>
            <a:endParaRPr lang="en-US" sz="1400" dirty="0"/>
          </a:p>
        </p:txBody>
      </p:sp>
      <p:sp>
        <p:nvSpPr>
          <p:cNvPr id="7" name="Text 5"/>
          <p:cNvSpPr/>
          <p:nvPr/>
        </p:nvSpPr>
        <p:spPr>
          <a:xfrm>
            <a:off x="6355080" y="1828800"/>
            <a:ext cx="5166360" cy="457200"/>
          </a:xfrm>
          <a:prstGeom prst="rect">
            <a:avLst/>
          </a:prstGeom>
          <a:noFill/>
          <a:ln/>
        </p:spPr>
        <p:txBody>
          <a:bodyPr wrap="square" lIns="0" tIns="0" rIns="0" bIns="0" rtlCol="0" anchor="t"/>
          <a:lstStyle/>
          <a:p>
            <a:pPr marL="0" indent="0" algn="l">
              <a:buNone/>
            </a:pPr>
            <a:r>
              <a:rPr lang="en-US" sz="1800" b="1" dirty="0">
                <a:solidFill>
                  <a:srgbClr val="111111"/>
                </a:solidFill>
                <a:latin typeface="Arial" pitchFamily="34" charset="0"/>
                <a:ea typeface="Arial" pitchFamily="34" charset="-122"/>
                <a:cs typeface="Arial" pitchFamily="34" charset="-120"/>
              </a:rPr>
              <a:t>Future work</a:t>
            </a:r>
            <a:endParaRPr lang="en-US" sz="1800" dirty="0"/>
          </a:p>
        </p:txBody>
      </p:sp>
      <p:sp>
        <p:nvSpPr>
          <p:cNvPr id="8" name="Text 6"/>
          <p:cNvSpPr/>
          <p:nvPr/>
        </p:nvSpPr>
        <p:spPr>
          <a:xfrm>
            <a:off x="6355080" y="2331720"/>
            <a:ext cx="5166360" cy="228600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Loss models tuned to specific turbomachinery stages</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Machine-learning loss models trained on high-fidelity data</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Compressor support, both axial and radial (Part II)</a:t>
            </a:r>
            <a:endParaRPr lang="en-US" sz="1400" dirty="0"/>
          </a:p>
          <a:p>
            <a:pPr marL="342900" indent="-342900" algn="l">
              <a:spcAft>
                <a:spcPts val="400"/>
              </a:spcAft>
              <a:buSzPct val="100000"/>
              <a:buChar char="•"/>
            </a:pPr>
            <a:r>
              <a:rPr lang="en-US" sz="1400" dirty="0">
                <a:solidFill>
                  <a:srgbClr val="111111"/>
                </a:solidFill>
                <a:latin typeface="Arial" pitchFamily="34" charset="0"/>
                <a:ea typeface="Arial" pitchFamily="34" charset="-122"/>
                <a:cs typeface="Arial" pitchFamily="34" charset="-120"/>
              </a:rPr>
              <a:t>Continued validation against experimental datasets</a:t>
            </a:r>
            <a:endParaRPr lang="en-US" sz="1400" dirty="0"/>
          </a:p>
        </p:txBody>
      </p:sp>
      <p:sp>
        <p:nvSpPr>
          <p:cNvPr id="9" name="Shape 7"/>
          <p:cNvSpPr/>
          <p:nvPr/>
        </p:nvSpPr>
        <p:spPr>
          <a:xfrm>
            <a:off x="640080" y="4937760"/>
            <a:ext cx="10881360" cy="0"/>
          </a:xfrm>
          <a:prstGeom prst="line">
            <a:avLst/>
          </a:prstGeom>
          <a:noFill/>
          <a:ln w="6350">
            <a:solidFill>
              <a:srgbClr val="D1D5DB"/>
            </a:solidFill>
            <a:prstDash val="solid"/>
          </a:ln>
        </p:spPr>
        <p:txBody>
          <a:bodyPr/>
          <a:lstStyle/>
          <a:p>
            <a:endParaRPr lang="en-US"/>
          </a:p>
        </p:txBody>
      </p:sp>
      <p:sp>
        <p:nvSpPr>
          <p:cNvPr id="10" name="Text 8"/>
          <p:cNvSpPr/>
          <p:nvPr/>
        </p:nvSpPr>
        <p:spPr>
          <a:xfrm>
            <a:off x="640080" y="5166360"/>
            <a:ext cx="8400000" cy="731520"/>
          </a:xfrm>
          <a:prstGeom prst="rect">
            <a:avLst/>
          </a:prstGeom>
          <a:noFill/>
          <a:ln/>
        </p:spPr>
        <p:txBody>
          <a:bodyPr wrap="square" lIns="0" tIns="0" rIns="0" bIns="0" rtlCol="0" anchor="t"/>
          <a:lstStyle/>
          <a:p>
            <a:pPr marL="0" indent="0" algn="l">
              <a:spcAft>
                <a:spcPts val="300"/>
              </a:spcAft>
              <a:buNone/>
            </a:pPr>
            <a:r>
              <a:rPr lang="en-US" sz="1600" b="0" dirty="0">
                <a:solidFill>
                  <a:srgbClr val="374151"/>
                </a:solidFill>
                <a:latin typeface="Arial" pitchFamily="34" charset="0"/>
                <a:ea typeface="Arial" pitchFamily="34" charset="-122"/>
                <a:cs typeface="Arial" pitchFamily="34" charset="-120"/>
              </a:rPr>
              <a:t>Source code, tutorials, and CFD validation cases are available at</a:t>
            </a:r>
          </a:p>
          <a:p>
            <a:pPr marL="0" indent="0" algn="l">
              <a:buNone/>
            </a:pPr>
            <a:r>
              <a:rPr lang="en-US" sz="1600" b="1" dirty="0">
                <a:solidFill>
                  <a:srgbClr val="374151"/>
                </a:solidFill>
                <a:latin typeface="Arial" pitchFamily="34" charset="0"/>
                <a:ea typeface="Arial" pitchFamily="34" charset="-122"/>
                <a:cs typeface="Arial" pitchFamily="34" charset="-120"/>
              </a:rPr>
              <a:t>github.com/nasa/turbo-design</a:t>
            </a:r>
            <a:endParaRPr lang="en-US" sz="1600" b="1" dirty="0"/>
          </a:p>
        </p:txBody>
      </p:sp>
      <p:sp>
        <p:nvSpPr>
          <p:cNvPr id="11" name="Shape 9"/>
          <p:cNvSpPr/>
          <p:nvPr/>
        </p:nvSpPr>
        <p:spPr>
          <a:xfrm>
            <a:off x="640080" y="6355080"/>
            <a:ext cx="10881360" cy="0"/>
          </a:xfrm>
          <a:prstGeom prst="line">
            <a:avLst/>
          </a:prstGeom>
          <a:noFill/>
          <a:ln w="6350">
            <a:solidFill>
              <a:srgbClr val="D1D5DB"/>
            </a:solidFill>
            <a:prstDash val="solid"/>
          </a:ln>
        </p:spPr>
        <p:txBody>
          <a:bodyPr/>
          <a:lstStyle/>
          <a:p>
            <a:endParaRPr lang="en-US"/>
          </a:p>
        </p:txBody>
      </p:sp>
      <p:sp>
        <p:nvSpPr>
          <p:cNvPr id="12" name="Text 10"/>
          <p:cNvSpPr/>
          <p:nvPr/>
        </p:nvSpPr>
        <p:spPr>
          <a:xfrm>
            <a:off x="640080" y="6446520"/>
            <a:ext cx="7315200" cy="274320"/>
          </a:xfrm>
          <a:prstGeom prst="rect">
            <a:avLst/>
          </a:prstGeom>
          <a:noFill/>
          <a:ln/>
        </p:spPr>
        <p:txBody>
          <a:bodyPr wrap="square" lIns="0" tIns="0" rIns="0" bIns="0" rtlCol="0" anchor="ctr"/>
          <a:lstStyle/>
          <a:p>
            <a:pPr marL="0" indent="0" algn="l">
              <a:buNone/>
            </a:pPr>
            <a:r>
              <a:rPr lang="en-US" sz="900" i="1" kern="0" spc="300" dirty="0">
                <a:solidFill>
                  <a:srgbClr val="6B7280"/>
                </a:solidFill>
                <a:latin typeface="Arial" pitchFamily="34" charset="0"/>
                <a:ea typeface="Arial" pitchFamily="34" charset="-122"/>
                <a:cs typeface="Arial" pitchFamily="34" charset="-120"/>
              </a:rPr>
              <a:t>12 · Conclusions</a:t>
            </a:r>
            <a:endParaRPr lang="en-US" sz="900" dirty="0"/>
          </a:p>
        </p:txBody>
      </p:sp>
      <p:sp>
        <p:nvSpPr>
          <p:cNvPr id="13" name="Text 11"/>
          <p:cNvSpPr/>
          <p:nvPr/>
        </p:nvSpPr>
        <p:spPr>
          <a:xfrm>
            <a:off x="10607040" y="6446520"/>
            <a:ext cx="914400" cy="274320"/>
          </a:xfrm>
          <a:prstGeom prst="rect">
            <a:avLst/>
          </a:prstGeom>
          <a:noFill/>
          <a:ln/>
        </p:spPr>
        <p:txBody>
          <a:bodyPr wrap="square" lIns="0" tIns="0" rIns="0" bIns="0" rtlCol="0" anchor="ctr"/>
          <a:lstStyle/>
          <a:p>
            <a:pPr marL="0" indent="0" algn="r">
              <a:buNone/>
            </a:pPr>
            <a:r>
              <a:rPr lang="en-US" sz="900" dirty="0">
                <a:solidFill>
                  <a:srgbClr val="6B7280"/>
                </a:solidFill>
                <a:latin typeface="Arial" pitchFamily="34" charset="0"/>
                <a:ea typeface="Arial" pitchFamily="34" charset="-122"/>
                <a:cs typeface="Arial" pitchFamily="34" charset="-120"/>
              </a:rPr>
              <a:t>13</a:t>
            </a:r>
            <a:endParaRPr lang="en-US" sz="900" dirty="0"/>
          </a:p>
        </p:txBody>
      </p:sp>
      <p:pic>
        <p:nvPicPr>
          <p:cNvPr id="810" name="QR - GitHub repo"/>
          <p:cNvPicPr>
            <a:picLocks noChangeAspect="1"/>
          </p:cNvPicPr>
          <p:nvPr/>
        </p:nvPicPr>
        <p:blipFill>
          <a:blip r:embed="rId2"/>
          <a:stretch>
            <a:fillRect/>
          </a:stretch>
        </p:blipFill>
        <p:spPr>
          <a:xfrm>
            <a:off x="10271760" y="4900000"/>
            <a:ext cx="1280160" cy="1280160"/>
          </a:xfrm>
          <a:prstGeom prst="rect">
            <a:avLst/>
          </a:prstGeom>
        </p:spPr>
      </p:pic>
      <p:sp>
        <p:nvSpPr>
          <p:cNvPr id="811" name="QR label"/>
          <p:cNvSpPr/>
          <p:nvPr/>
        </p:nvSpPr>
        <p:spPr>
          <a:xfrm>
            <a:off x="9971760" y="6210160"/>
            <a:ext cx="1880160" cy="220000"/>
          </a:xfrm>
          <a:prstGeom prst="rect">
            <a:avLst/>
          </a:prstGeom>
          <a:noFill/>
        </p:spPr>
        <p:txBody>
          <a:bodyPr wrap="square" lIns="0" tIns="0" rIns="0" bIns="0" anchor="t"/>
          <a:lstStyle/>
          <a:p>
            <a:pPr marL="0" indent="0" algn="ctr">
              <a:buNone/>
            </a:pPr>
            <a:r>
              <a:rPr lang="en-US" sz="900" kern="0" spc="100">
                <a:solidFill>
                  <a:srgbClr val="6B7280"/>
                </a:solidFill>
                <a:latin typeface="Arial"/>
              </a:rPr>
              <a:t>github.com/nasa/turbo-design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377440"/>
            <a:ext cx="12161520" cy="274320"/>
          </a:xfrm>
          <a:prstGeom prst="rect">
            <a:avLst/>
          </a:prstGeom>
          <a:noFill/>
          <a:ln/>
        </p:spPr>
        <p:txBody>
          <a:bodyPr wrap="square" lIns="0" tIns="0" rIns="0" bIns="0" rtlCol="0" anchor="t"/>
          <a:lstStyle/>
          <a:p>
            <a:pPr marL="0" indent="0" algn="ctr">
              <a:buNone/>
            </a:pPr>
            <a:r>
              <a:rPr lang="en-US" sz="1000" i="1" kern="0" spc="400" dirty="0">
                <a:solidFill>
                  <a:srgbClr val="6B7280"/>
                </a:solidFill>
                <a:latin typeface="Arial" pitchFamily="34" charset="0"/>
                <a:ea typeface="Arial" pitchFamily="34" charset="-122"/>
                <a:cs typeface="Arial" pitchFamily="34" charset="-120"/>
              </a:rPr>
              <a:t>NASA GLENN  ·  PURDUE  ·  ASME GT2026-175147</a:t>
            </a:r>
            <a:endParaRPr lang="en-US" sz="1000" dirty="0"/>
          </a:p>
        </p:txBody>
      </p:sp>
      <p:sp>
        <p:nvSpPr>
          <p:cNvPr id="3" name="Text 1"/>
          <p:cNvSpPr/>
          <p:nvPr/>
        </p:nvSpPr>
        <p:spPr>
          <a:xfrm>
            <a:off x="0" y="2743200"/>
            <a:ext cx="12161520" cy="1188720"/>
          </a:xfrm>
          <a:prstGeom prst="rect">
            <a:avLst/>
          </a:prstGeom>
          <a:noFill/>
          <a:ln/>
        </p:spPr>
        <p:txBody>
          <a:bodyPr wrap="square" lIns="0" tIns="0" rIns="0" bIns="0" rtlCol="0" anchor="t"/>
          <a:lstStyle/>
          <a:p>
            <a:pPr marL="0" indent="0" algn="ctr">
              <a:buNone/>
            </a:pPr>
            <a:r>
              <a:rPr lang="en-US" sz="3500" b="1" dirty="0">
                <a:solidFill>
                  <a:srgbClr val="111111"/>
                </a:solidFill>
                <a:latin typeface="Arial" pitchFamily="34" charset="0"/>
                <a:ea typeface="Arial" pitchFamily="34" charset="-122"/>
                <a:cs typeface="Arial" pitchFamily="34" charset="-120"/>
              </a:rPr>
              <a:t>Thank you</a:t>
            </a:r>
            <a:endParaRPr lang="en-US" sz="3500" dirty="0"/>
          </a:p>
        </p:txBody>
      </p:sp>
      <p:sp>
        <p:nvSpPr>
          <p:cNvPr id="4" name="Shape 2"/>
          <p:cNvSpPr/>
          <p:nvPr/>
        </p:nvSpPr>
        <p:spPr>
          <a:xfrm>
            <a:off x="5715000" y="4114800"/>
            <a:ext cx="731520" cy="0"/>
          </a:xfrm>
          <a:prstGeom prst="line">
            <a:avLst/>
          </a:prstGeom>
          <a:noFill/>
          <a:ln w="19050">
            <a:solidFill>
              <a:srgbClr val="2563EB"/>
            </a:solidFill>
            <a:prstDash val="solid"/>
          </a:ln>
        </p:spPr>
        <p:txBody>
          <a:bodyPr/>
          <a:lstStyle/>
          <a:p>
            <a:endParaRPr lang="en-US"/>
          </a:p>
        </p:txBody>
      </p:sp>
      <p:sp>
        <p:nvSpPr>
          <p:cNvPr id="5" name="Text 3"/>
          <p:cNvSpPr/>
          <p:nvPr/>
        </p:nvSpPr>
        <p:spPr>
          <a:xfrm>
            <a:off x="0" y="4389120"/>
            <a:ext cx="12161520" cy="365760"/>
          </a:xfrm>
          <a:prstGeom prst="rect">
            <a:avLst/>
          </a:prstGeom>
          <a:noFill/>
          <a:ln/>
        </p:spPr>
        <p:txBody>
          <a:bodyPr wrap="square" lIns="0" tIns="0" rIns="0" bIns="0" rtlCol="0" anchor="t"/>
          <a:lstStyle/>
          <a:p>
            <a:pPr marL="0" indent="0" algn="ctr">
              <a:buNone/>
            </a:pPr>
            <a:r>
              <a:rPr lang="en-US" sz="1400" dirty="0">
                <a:solidFill>
                  <a:srgbClr val="6B7280"/>
                </a:solidFill>
                <a:latin typeface="Arial" pitchFamily="34" charset="0"/>
                <a:ea typeface="Arial" pitchFamily="34" charset="-122"/>
                <a:cs typeface="Arial" pitchFamily="34" charset="-120"/>
              </a:rPr>
              <a:t>paht.juangphanich@nasa.gov   |   github.com/nasa/turbo-design</a:t>
            </a:r>
            <a:endParaRPr lang="en-US" sz="1400" dirty="0"/>
          </a:p>
        </p:txBody>
      </p:sp>
      <p:pic>
        <p:nvPicPr>
          <p:cNvPr id="2050" name="Picture 2">
            <a:extLst>
              <a:ext uri="{FF2B5EF4-FFF2-40B4-BE49-F238E27FC236}">
                <a16:creationId xmlns:a16="http://schemas.microsoft.com/office/drawing/2014/main" id="{AAF582F4-3CEA-AC74-0ED3-385F82065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7630" y="4950460"/>
            <a:ext cx="1826260" cy="182626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580760" y="4765794"/>
            <a:ext cx="3000000" cy="369332"/>
          </a:xfrm>
          <a:prstGeom prst="rect">
            <a:avLst/>
          </a:prstGeom>
          <a:noFill/>
        </p:spPr>
        <p:txBody>
          <a:bodyPr wrap="square" lIns="0" tIns="0" rIns="0" bIns="0" rtlCol="0" anchor="t"/>
          <a:lstStyle/>
          <a:p>
            <a:pPr marL="0" indent="0" algn="ctr">
              <a:buNone/>
            </a:pPr>
            <a:r>
              <a:rPr lang="en-US" dirty="0"/>
              <a:t>Paht’s open-source projects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1247</TotalTime>
  <Words>1533</Words>
  <Application>Microsoft Macintosh PowerPoint</Application>
  <PresentationFormat>Widescreen</PresentationFormat>
  <Paragraphs>232</Paragraphs>
  <Slides>14</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Template</dc:title>
  <dc:subject>PptxGenJS Presentation</dc:subject>
  <dc:creator>Template</dc:creator>
  <cp:lastModifiedBy>Juangphanich, Paht (GRC-LTE0)</cp:lastModifiedBy>
  <cp:revision>13</cp:revision>
  <dcterms:created xsi:type="dcterms:W3CDTF">2026-04-20T17:10:02Z</dcterms:created>
  <dcterms:modified xsi:type="dcterms:W3CDTF">2026-06-08T17:59:38Z</dcterms:modified>
</cp:coreProperties>
</file>