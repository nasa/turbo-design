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FEF44-8542-1C41-BFBE-36EE5332D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5E2633-164E-E8C8-3ACE-3AB8EAEF79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BE2C0-65A8-4151-5544-C55F8549C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FA71-1F2A-C546-BB46-45D1C915897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1E835-2C12-C8CD-969D-8450ED6F1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86B2B-2F36-ABA3-5FB8-2E7B0EE80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02DC-49C8-9841-9E09-9BDBBAA0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832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251BF-F429-DB1F-1F6D-738FC644E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A9FDA-359B-935D-B811-30510E9A9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838B2-6473-0CED-16EA-BF6AEDE92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FA71-1F2A-C546-BB46-45D1C915897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57D1F-3D02-1A06-B959-935B22093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D7A55-15CE-F3E9-1502-0837C0EB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02DC-49C8-9841-9E09-9BDBBAA0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273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0D8DD-1294-20A4-DAB6-207392B97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9D9C6-F74A-88FF-10BE-D13D06DCD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6CF004-1538-8677-0BE8-E92DA6CF8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FA71-1F2A-C546-BB46-45D1C915897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97EBEF-8F45-364B-81F5-305B0ED2E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B84BC-291A-BEB0-47CF-D6CEDC44C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02DC-49C8-9841-9E09-9BDBBAA0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79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231E1-0246-80A0-AA7E-57EAC7D96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65405-9617-C3D9-EBE4-915085DA4B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4F43BE-4249-DAC5-13F9-031201083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B00CD8-F9E4-DE72-831C-AE0F4553B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FA71-1F2A-C546-BB46-45D1C915897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6F7FF-1535-4E3B-628E-299108F4D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CAEB11-29AB-6E83-4B51-A541F8D9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02DC-49C8-9841-9E09-9BDBBAA0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29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81E3A-EE5A-F374-5371-EB9F1820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D13C2-8962-D5D5-8622-F9AAF4CA7F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82B04E-CE43-E8EB-AB3F-42DA9A282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B4152F-7C3C-0BD5-0933-0A8A205631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76BED1-E708-F8E4-EB1A-C1A044A69B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F99A8C-1CEC-9FBE-4154-D687DD180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FA71-1F2A-C546-BB46-45D1C915897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1B063D-7209-F491-948B-C4F7BE7ED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D302F9-AC32-6601-3FA0-B8500A7A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02DC-49C8-9841-9E09-9BDBBAA0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43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EC58-78A6-461B-394F-6903A1D5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65696F-EE28-32D9-DF4E-6451581D5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FA71-1F2A-C546-BB46-45D1C915897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72551D-1BC7-61B7-035E-E0E3BB847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AE77A8-77EC-1986-B3C7-CC73B2183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02DC-49C8-9841-9E09-9BDBBAA0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62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FF8679-DA20-A7BA-B455-166A4AB2F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FA71-1F2A-C546-BB46-45D1C915897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287B90-B959-2D0A-FA61-418A98AA2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5AE11-6A64-1856-7E28-C2D680C9F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02DC-49C8-9841-9E09-9BDBBAA0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21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F179E-098A-AC40-9A15-C96A5A7C5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11638D-0206-C2F4-A69B-78A090269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3726C-B270-74CB-F038-EEE8C6BC2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A2DEF9-FE53-843D-C108-DC0F6B138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FA71-1F2A-C546-BB46-45D1C915897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C6CF64-2B9C-6F2D-7FC0-2B36103B3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EEDF5-742E-6857-389B-2A53D2D28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02DC-49C8-9841-9E09-9BDBBAA0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52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18B1F-1333-F575-92FA-0A673ABA2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AB483C-874D-B490-BCEC-953C49731B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A075ED-3127-4ABC-409C-122E1D3C2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A1E821-BE44-CBB6-B15C-2F736284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FA71-1F2A-C546-BB46-45D1C915897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A7D26-9DA4-0116-687B-148EE7EF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16CA49-EFD3-DA54-B244-5CE7ECE06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02DC-49C8-9841-9E09-9BDBBAA0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036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19F27-B287-85FE-B04A-61D95F476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DDF0F1-D167-E297-C7C3-655BFA60E4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5EE06D-132A-49C0-DED2-58B3A3FE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FA71-1F2A-C546-BB46-45D1C915897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EE6BE-89D2-4568-CC75-60A5A786A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81686-E44C-9733-40F7-7664D1638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02DC-49C8-9841-9E09-9BDBBAA0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228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78B3EB-1DB8-226C-6DEC-98497DE877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93EED6-25AB-C3F7-62B9-DA1D28F42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B67EE-E47E-4B6A-6456-D2308E4F7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FFA71-1F2A-C546-BB46-45D1C915897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6C381-A163-132F-B992-C13ACF592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5B288-BEC2-40B9-FCFA-CF70E1C8B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802DC-49C8-9841-9E09-9BDBBAA0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49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50FFEC-D428-66F9-7798-0BFB60C49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580EB-8FCE-4103-5F59-97E1BF38D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BCECBF-6AB2-F670-64C1-53D77916A2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FFA71-1F2A-C546-BB46-45D1C9158971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48DBE-98BB-DCD3-5ECE-513352CE09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5299A-9412-9DDF-C12C-5CECB0C02E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3802DC-49C8-9841-9E09-9BDBBAA0D3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85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CA8DE-2ACF-04CD-2053-72D59595FC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Turbomachinery: </a:t>
            </a:r>
            <a:br>
              <a:rPr lang="en-US" dirty="0"/>
            </a:br>
            <a:r>
              <a:rPr lang="en-US" dirty="0"/>
              <a:t>Full component matching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7BA6D5-96D6-7E25-58C0-B3B0619E6A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159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A21BA-C3CC-8E50-0D45-9FDA6FBB8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572" y="6498"/>
            <a:ext cx="10515600" cy="1325563"/>
          </a:xfrm>
        </p:spPr>
        <p:txBody>
          <a:bodyPr/>
          <a:lstStyle/>
          <a:p>
            <a:r>
              <a:rPr lang="en-US" dirty="0"/>
              <a:t>Component matching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E402F3-C791-ECB5-8EEB-29D7C54BE0F6}"/>
                  </a:ext>
                </a:extLst>
              </p:cNvPr>
              <p:cNvSpPr txBox="1"/>
              <p:nvPr/>
            </p:nvSpPr>
            <p:spPr>
              <a:xfrm>
                <a:off x="306572" y="1299438"/>
                <a:ext cx="10515600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Single component</a:t>
                </a:r>
                <a:r>
                  <a:rPr lang="en-US" dirty="0"/>
                  <a:t> </a:t>
                </a:r>
                <a:r>
                  <a:rPr lang="en-US" b="1" dirty="0"/>
                  <a:t>sizing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is when to a target non-dimensional </a:t>
                </a:r>
                <a:r>
                  <a:rPr lang="en-US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massflow</a:t>
                </a:r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parameter -&gt; defines local Mach number and flow capacity per unit area. Allows scaling of physical area for any specified </a:t>
                </a:r>
                <a:r>
                  <a:rPr lang="en-US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massflow</a:t>
                </a:r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endParaRPr lang="en-US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r>
                  <a:rPr lang="en-US" b="1" dirty="0"/>
                  <a:t>Full component</a:t>
                </a:r>
                <a:r>
                  <a:rPr lang="en-US" dirty="0"/>
                  <a:t> </a:t>
                </a:r>
                <a:r>
                  <a:rPr lang="en-US" b="1" dirty="0"/>
                  <a:t>matching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is when we enforce physical </a:t>
                </a:r>
                <a:r>
                  <a:rPr lang="en-US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massflow</a:t>
                </a:r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continuity. Note that non-dimensional </a:t>
                </a:r>
                <a:r>
                  <a:rPr lang="en-US" dirty="0" err="1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massflow</a:t>
                </a:r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for compressor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and turbine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>
                                    <a:lumMod val="65000"/>
                                    <a:lumOff val="3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can be different. </a:t>
                </a:r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2E402F3-C791-ECB5-8EEB-29D7C54BE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72" y="1299438"/>
                <a:ext cx="10515600" cy="1477328"/>
              </a:xfrm>
              <a:prstGeom prst="rect">
                <a:avLst/>
              </a:prstGeom>
              <a:blipFill>
                <a:blip r:embed="rId2"/>
                <a:stretch>
                  <a:fillRect l="-483" t="-1709" r="-603" b="-5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BDF5D51A-8C20-2993-75F8-873DD4B528D7}"/>
              </a:ext>
            </a:extLst>
          </p:cNvPr>
          <p:cNvSpPr txBox="1"/>
          <p:nvPr/>
        </p:nvSpPr>
        <p:spPr>
          <a:xfrm>
            <a:off x="306572" y="3017767"/>
            <a:ext cx="6955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Massflow</a:t>
            </a:r>
            <a:r>
              <a:rPr lang="en-US" b="1" dirty="0"/>
              <a:t> Parameter:</a:t>
            </a:r>
            <a:r>
              <a:rPr lang="en-US" dirty="0"/>
              <a:t> dictates how much flow a given geometric area can physically handle.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887D0F-3F2F-2448-F420-3B328C5B4CE1}"/>
                  </a:ext>
                </a:extLst>
              </p:cNvPr>
              <p:cNvSpPr txBox="1"/>
              <p:nvPr/>
            </p:nvSpPr>
            <p:spPr>
              <a:xfrm>
                <a:off x="408602" y="4062146"/>
                <a:ext cx="4439164" cy="7400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̇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ra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</m:ra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𝑀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𝛾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2887D0F-3F2F-2448-F420-3B328C5B4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02" y="4062146"/>
                <a:ext cx="4439164" cy="740011"/>
              </a:xfrm>
              <a:prstGeom prst="rect">
                <a:avLst/>
              </a:prstGeom>
              <a:blipFill>
                <a:blip r:embed="rId3"/>
                <a:stretch>
                  <a:fillRect l="-571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Normalized Mass Flow vs. Mach Number, AI generated">
            <a:extLst>
              <a:ext uri="{FF2B5EF4-FFF2-40B4-BE49-F238E27FC236}">
                <a16:creationId xmlns:a16="http://schemas.microsoft.com/office/drawing/2014/main" id="{884341FF-B4E2-7C46-FE89-05F8859F3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8287" y="3017767"/>
            <a:ext cx="4406900" cy="365760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5868F6C-E279-1C21-3824-CBF922A256FB}"/>
              </a:ext>
            </a:extLst>
          </p:cNvPr>
          <p:cNvCxnSpPr>
            <a:cxnSpLocks/>
          </p:cNvCxnSpPr>
          <p:nvPr/>
        </p:nvCxnSpPr>
        <p:spPr>
          <a:xfrm>
            <a:off x="9112104" y="2656260"/>
            <a:ext cx="0" cy="3615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9864507-52E2-11E6-FE68-1C9235A2AC1F}"/>
              </a:ext>
            </a:extLst>
          </p:cNvPr>
          <p:cNvSpPr txBox="1"/>
          <p:nvPr/>
        </p:nvSpPr>
        <p:spPr>
          <a:xfrm>
            <a:off x="9289800" y="2558012"/>
            <a:ext cx="3064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Choke limit (max </a:t>
            </a:r>
            <a:r>
              <a:rPr lang="en-US" dirty="0" err="1"/>
              <a:t>massflow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25608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2E6FF-E233-2A79-29C5-241105D6F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Integrating MFP with Turbo design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D71E75-2B9A-BDA3-C728-7BFD44B7BD08}"/>
                  </a:ext>
                </a:extLst>
              </p:cNvPr>
              <p:cNvSpPr txBox="1"/>
              <p:nvPr/>
            </p:nvSpPr>
            <p:spPr>
              <a:xfrm>
                <a:off x="838200" y="1379654"/>
                <a:ext cx="10878879" cy="4838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Step 1: Size the Compressor Inlet </a:t>
                </a:r>
              </a:p>
              <a:p>
                <a:pPr marL="342900" indent="-342900">
                  <a:buAutoNum type="arabicPeriod"/>
                </a:pPr>
                <a:r>
                  <a:rPr lang="en-US" dirty="0"/>
                  <a:t>Pick a physical </a:t>
                </a:r>
                <a:r>
                  <a:rPr lang="en-US" dirty="0" err="1"/>
                  <a:t>massflow</a:t>
                </a:r>
                <a:r>
                  <a:rPr lang="en-US" dirty="0"/>
                  <a:t> and inlet state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02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02</m:t>
                        </m:r>
                      </m:sub>
                    </m:sSub>
                  </m:oMath>
                </a14:m>
                <a:r>
                  <a:rPr lang="en-US" dirty="0"/>
                  <a:t>) and a target Mach Number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Calculate non-dimensional </a:t>
                </a:r>
                <a:r>
                  <a:rPr lang="en-US" dirty="0" err="1"/>
                  <a:t>massflow</a:t>
                </a:r>
                <a:r>
                  <a:rPr lang="en-US" dirty="0"/>
                  <a:t> parameter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Use it to get the Annulus area –&gt; split into hub and shroud radii for a given mean radius.</a:t>
                </a:r>
              </a:p>
              <a:p>
                <a:r>
                  <a:rPr lang="en-US" dirty="0"/>
                  <a:t> </a:t>
                </a:r>
              </a:p>
              <a:p>
                <a:r>
                  <a:rPr lang="en-US" dirty="0"/>
                  <a:t>2. Run the compressor solver with prescribed blade angles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Outputs: P03, T03, Power</a:t>
                </a:r>
              </a:p>
              <a:p>
                <a:endParaRPr lang="en-US" dirty="0"/>
              </a:p>
              <a:p>
                <a:r>
                  <a:rPr lang="en-US" dirty="0"/>
                  <a:t>3. Apply combustor 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04</m:t>
                        </m:r>
                      </m:sub>
                    </m:sSub>
                  </m:oMath>
                </a14:m>
                <a:r>
                  <a:rPr lang="en-US" dirty="0"/>
                  <a:t> is a design choice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03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𝑙𝑜𝑠𝑠</m:t>
                        </m:r>
                      </m:e>
                    </m:d>
                  </m:oMath>
                </a14:m>
                <a:endParaRPr lang="en-US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𝐹𝐴𝑅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𝑏𝑙𝑒𝑒𝑑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;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𝐹𝐴𝑅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𝑓𝑢𝑒𝑙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𝑎𝑖𝑟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285750" indent="-285750">
                  <a:buFontTx/>
                  <a:buChar char="-"/>
                </a:pPr>
                <a:endParaRPr lang="en-US" dirty="0"/>
              </a:p>
              <a:p>
                <a:r>
                  <a:rPr lang="en-US" dirty="0"/>
                  <a:t>4. Size the NGV (nozzle guide vane) throat</a:t>
                </a:r>
              </a:p>
              <a:p>
                <a:pPr marL="285750" indent="-285750">
                  <a:buFontTx/>
                  <a:buChar char="-"/>
                </a:pPr>
                <a:r>
                  <a:rPr lang="en-US" dirty="0" err="1"/>
                  <a:t>Massflow</a:t>
                </a:r>
                <a:r>
                  <a:rPr lang="en-US" dirty="0"/>
                  <a:t> chokes in highly loaded NGV: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04</m:t>
                                </m:r>
                              </m:sub>
                            </m:sSub>
                          </m:e>
                        </m:rad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04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𝛾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den>
                            </m:f>
                          </m:e>
                        </m:rad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𝛾</m:t>
                            </m:r>
                          </m:e>
                        </m:d>
                      </m:den>
                    </m:f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D71E75-2B9A-BDA3-C728-7BFD44B7BD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79654"/>
                <a:ext cx="10878879" cy="4838761"/>
              </a:xfrm>
              <a:prstGeom prst="rect">
                <a:avLst/>
              </a:prstGeom>
              <a:blipFill>
                <a:blip r:embed="rId2"/>
                <a:stretch>
                  <a:fillRect l="-583" t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248A919-BA6E-B52D-0A34-8B97065356EF}"/>
              </a:ext>
            </a:extLst>
          </p:cNvPr>
          <p:cNvCxnSpPr>
            <a:cxnSpLocks/>
          </p:cNvCxnSpPr>
          <p:nvPr/>
        </p:nvCxnSpPr>
        <p:spPr>
          <a:xfrm>
            <a:off x="6053471" y="5080484"/>
            <a:ext cx="0" cy="36150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0E2AA85-9283-2C5B-57AD-50035967AF29}"/>
              </a:ext>
            </a:extLst>
          </p:cNvPr>
          <p:cNvSpPr txBox="1"/>
          <p:nvPr/>
        </p:nvSpPr>
        <p:spPr>
          <a:xfrm>
            <a:off x="5847907" y="4711152"/>
            <a:ext cx="2792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Choked value of </a:t>
            </a:r>
            <a:r>
              <a:rPr lang="en-US" dirty="0" err="1"/>
              <a:t>massflow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281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7ADB2-AE2A-4693-BD60-33886E924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Sweeping the Operating Map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71F743-34C6-4273-9FED-9D7477612961}"/>
                  </a:ext>
                </a:extLst>
              </p:cNvPr>
              <p:cNvSpPr txBox="1"/>
              <p:nvPr/>
            </p:nvSpPr>
            <p:spPr>
              <a:xfrm>
                <a:off x="838200" y="1379654"/>
                <a:ext cx="10878879" cy="3532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Sweep massflow x rpm on a fixed, already-matched geometry to build a performance map</a:t>
                </a:r>
              </a:p>
              <a:p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Corrected massflow (map x-axis):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̇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∙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rad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285750" indent="-285750">
                  <a:buFontTx/>
                  <a:buChar char="-"/>
                </a:pPr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Corrected speed (one line per speed):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en-US" dirty="0"/>
              </a:p>
              <a:p>
                <a:pPr marL="285750" indent="-285750">
                  <a:buFontTx/>
                  <a:buChar char="-"/>
                </a:pPr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Each point reuses the same choke-margin check from sizing – an infeasible point is recorded, not raised, so one bad point does not stop the sweep</a:t>
                </a:r>
              </a:p>
              <a:p>
                <a:pPr marL="285750" indent="-285750">
                  <a:buFontTx/>
                  <a:buChar char="-"/>
                </a:pPr>
                <a:endParaRPr lang="en-US" dirty="0"/>
              </a:p>
              <a:p>
                <a:pPr marL="285750" indent="-285750">
                  <a:buFontTx/>
                  <a:buChar char="-"/>
                </a:pPr>
                <a:r>
                  <a:rPr lang="en-US" dirty="0"/>
                  <a:t>Massflow sweeps are meaningful for compressors; a turbine in pressure-balance mode only takes massflow as a solver seed – sweep rpm instead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D71F743-34C6-4273-9FED-9D7477612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79654"/>
                <a:ext cx="10878879" cy="3532057"/>
              </a:xfrm>
              <a:prstGeom prst="rect">
                <a:avLst/>
              </a:prstGeom>
              <a:blipFill>
                <a:blip r:embed="rId2"/>
                <a:stretch>
                  <a:fillRect l="-583" t="-717" b="-1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280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308</Words>
  <Application>Microsoft Macintosh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Turbomachinery:  Full component matching</vt:lpstr>
      <vt:lpstr>Component matching</vt:lpstr>
      <vt:lpstr>Integrating MFP with Turbo design</vt:lpstr>
      <vt:lpstr>Sweeping the Operating 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Juangphanich, Paht (GRC-LTE0)</dc:creator>
  <cp:lastModifiedBy>Juangphanich, Paht (GRC-LTE0)</cp:lastModifiedBy>
  <cp:revision>3</cp:revision>
  <dcterms:created xsi:type="dcterms:W3CDTF">2026-08-24T15:50:09Z</dcterms:created>
  <dcterms:modified xsi:type="dcterms:W3CDTF">2026-08-24T19:47:13Z</dcterms:modified>
</cp:coreProperties>
</file>